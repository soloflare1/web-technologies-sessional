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embeddedFontLst>
    <p:embeddedFont>
      <p:font typeface="Inter" panose="020B0604020202020204" charset="0"/>
      <p:regular r:id="rId33"/>
      <p:bold r:id="rId34"/>
      <p:italic r:id="rId35"/>
      <p:boldItalic r:id="rId36"/>
    </p:embeddedFont>
    <p:embeddedFont>
      <p:font typeface="Arial Unicode MS" panose="020B0604020202020204" charset="-128"/>
      <p:regular r:id="rId37"/>
    </p:embeddedFont>
    <p:embeddedFont>
      <p:font typeface="Fira Code" panose="020B0604020202020204" charset="0"/>
      <p:regular r:id="rId38"/>
      <p:bold r:id="rId39"/>
    </p:embeddedFont>
    <p:embeddedFont>
      <p:font typeface="Calibri" panose="020F0502020204030204" pitchFamily="34" charset="0"/>
      <p:regular r:id="rId40"/>
      <p:bold r:id="rId41"/>
      <p:italic r:id="rId42"/>
      <p:boldItalic r:id="rId43"/>
    </p:embeddedFont>
    <p:embeddedFont>
      <p:font typeface="Poppins SemiBold" panose="020B0604020202020204" charset="0"/>
      <p:regular r:id="rId44"/>
      <p:bold r:id="rId45"/>
      <p:italic r:id="rId46"/>
      <p:boldItalic r:id="rId47"/>
    </p:embeddedFont>
    <p:embeddedFont>
      <p:font typeface="Poppins" panose="020B0604020202020204" charset="0"/>
      <p:regular r:id="rId48"/>
      <p:bold r:id="rId49"/>
      <p:italic r:id="rId50"/>
      <p:boldItalic r:id="rId5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8848262-4B3B-42A7-BFBA-790778F68366}">
  <a:tblStyle styleId="{58848262-4B3B-42A7-BFBA-790778F6836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47" Type="http://schemas.openxmlformats.org/officeDocument/2006/relationships/font" Target="fonts/font15.fntdata"/><Relationship Id="rId50" Type="http://schemas.openxmlformats.org/officeDocument/2006/relationships/font" Target="fonts/font18.fntdata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font" Target="fonts/font13.fntdata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2.fntdata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font" Target="fonts/font11.fntdata"/><Relationship Id="rId48" Type="http://schemas.openxmlformats.org/officeDocument/2006/relationships/font" Target="fonts/font16.fntdata"/><Relationship Id="rId8" Type="http://schemas.openxmlformats.org/officeDocument/2006/relationships/slide" Target="slides/slide7.xml"/><Relationship Id="rId51" Type="http://schemas.openxmlformats.org/officeDocument/2006/relationships/font" Target="fonts/font19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font" Target="fonts/font14.fntdata"/><Relationship Id="rId20" Type="http://schemas.openxmlformats.org/officeDocument/2006/relationships/slide" Target="slides/slide19.xml"/><Relationship Id="rId41" Type="http://schemas.openxmlformats.org/officeDocument/2006/relationships/font" Target="fonts/font9.fntdata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49" Type="http://schemas.openxmlformats.org/officeDocument/2006/relationships/font" Target="fonts/font1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2" name="Google Shape;572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0" name="Google Shape;580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" name="Google Shape;602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2" name="Google Shape;622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Prepared By MD Yeakob Ali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Prepared By MD Yeakob Ali</a:t>
            </a:r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Prepared By MD Yeakob Ali</a:t>
            </a:r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Prepared By MD Yeakob Ali</a:t>
            </a:r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Prepared By MD Yeakob Ali</a:t>
            </a:r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Prepared By MD Yeakob Ali</a:t>
            </a:r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Prepared By MD Yeakob Ali</a:t>
            </a:r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Prepared By MD Yeakob Ali</a:t>
            </a:r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Prepared By MD Yeakob Ali</a:t>
            </a:r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Prepared By MD Yeakob Ali</a:t>
            </a:r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Prepared By MD Yeakob Ali</a:t>
            </a:r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Prepared By MD Yeakob Ali</a:t>
            </a:r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3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1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3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5.png"/><Relationship Id="rId4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395412" y="2185094"/>
            <a:ext cx="9401175" cy="1625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Web Technologies </a:t>
            </a:r>
            <a:r>
              <a:rPr lang="en-US" sz="4800" b="1" i="0" u="none" strike="noStrike" cap="none" dirty="0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Sessional</a:t>
            </a: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dirty="0">
                <a:solidFill>
                  <a:srgbClr val="FF0000"/>
                </a:solidFill>
                <a:latin typeface="Poppins"/>
                <a:cs typeface="Poppins"/>
                <a:sym typeface="Poppins"/>
              </a:rPr>
              <a:t>Class 01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2286000" y="3912840"/>
            <a:ext cx="76200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HTML from Basic to Advanced. Master the foundational language of the web.</a:t>
            </a:r>
            <a:endParaRPr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2577C7D-2086-4FE9-8267-5933341D236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Prepared By MD Yeakob Ali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8E2526-1A66-424E-9389-45D497165BE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52575"/>
            <a:ext cx="5286375" cy="3876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552575"/>
            <a:ext cx="5286375" cy="3876526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962025" y="1943100"/>
            <a:ext cx="4730591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Part 1: Core Fundamentals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962025" y="2486025"/>
            <a:ext cx="450532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6724650" y="1943100"/>
            <a:ext cx="4730591" cy="819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Part 2: Advanced Concepts &amp; Practice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6724650" y="2886075"/>
            <a:ext cx="450532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1019175" y="2780347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200150" y="2695575"/>
            <a:ext cx="42672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Introduction to HTML &amp; Web Architecture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1019175" y="3168937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200150" y="3084165"/>
            <a:ext cx="42672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HTML Boilerplate and Document Structure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019175" y="3557527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1200150" y="3472755"/>
            <a:ext cx="42672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Basic Tags: Headings, Paragraphs, Links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1019175" y="3946118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1200150" y="3861345"/>
            <a:ext cx="42672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Text Formatting &amp; Lists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1019175" y="4334708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1200150" y="4249935"/>
            <a:ext cx="42672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Embedding Media (Images, Audio, Video)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6867525" y="309467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7010400" y="3019425"/>
            <a:ext cx="42672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Structural Elements: Divs, Spans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6867525" y="348326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7010400" y="3408015"/>
            <a:ext cx="42672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Semantic HTML5 &amp; Accessibility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6867525" y="387185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7010400" y="3796605"/>
            <a:ext cx="42672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Constructing Complex Tables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6867525" y="4260443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7010400" y="4185195"/>
            <a:ext cx="42672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Building Interactive Web Forms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6867525" y="4649033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7010400" y="4573785"/>
            <a:ext cx="42672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Lab Tasks: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Product Card, Result Table, CV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295275" y="615479"/>
            <a:ext cx="116014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Session </a:t>
            </a:r>
            <a:r>
              <a:rPr lang="en-US" sz="3150" b="0" i="0" u="none" strike="noStrike" cap="none" dirty="0">
                <a:solidFill>
                  <a:srgbClr val="FF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Agenda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74E6980-FD33-4CDE-A60A-EA23C955048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Prepared By MD Yeakob Ali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0F37D3-0D1B-4882-972C-7EF956C31EF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2593181" y="2822227"/>
            <a:ext cx="7005638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F0000"/>
                </a:solidFill>
                <a:latin typeface="Inter"/>
                <a:ea typeface="Inter"/>
                <a:cs typeface="Inter"/>
                <a:sym typeface="Inter"/>
              </a:rPr>
              <a:t>Introduction</a:t>
            </a:r>
            <a:r>
              <a:rPr lang="en-US" sz="240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to HTML &amp; Document Structure</a:t>
            </a:r>
            <a:endParaRPr sz="1800" b="1" dirty="0"/>
          </a:p>
        </p:txBody>
      </p:sp>
      <p:sp>
        <p:nvSpPr>
          <p:cNvPr id="126" name="Google Shape;126;p15"/>
          <p:cNvSpPr/>
          <p:nvPr/>
        </p:nvSpPr>
        <p:spPr>
          <a:xfrm>
            <a:off x="5381625" y="3654623"/>
            <a:ext cx="142875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C2F89E8-5C92-492D-AF4C-75B34AF57FE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Prepared By MD Yeakob Ali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EEACA9-04CA-4EAE-9270-131E4341F5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55257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571500" y="1457325"/>
            <a:ext cx="5286375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HyperText</a:t>
            </a:r>
            <a:r>
              <a:rPr lang="en-US" sz="160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Markup Language (HTML)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is the standard markup language for documents designed to be displayed in a web browser.</a:t>
            </a:r>
            <a:endParaRPr sz="1800" dirty="0"/>
          </a:p>
        </p:txBody>
      </p:sp>
      <p:sp>
        <p:nvSpPr>
          <p:cNvPr id="134" name="Google Shape;134;p16"/>
          <p:cNvSpPr txBox="1"/>
          <p:nvPr/>
        </p:nvSpPr>
        <p:spPr>
          <a:xfrm>
            <a:off x="561975" y="2803118"/>
            <a:ext cx="9525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800"/>
          </a:p>
        </p:txBody>
      </p:sp>
      <p:sp>
        <p:nvSpPr>
          <p:cNvPr id="135" name="Google Shape;135;p16"/>
          <p:cNvSpPr txBox="1"/>
          <p:nvPr/>
        </p:nvSpPr>
        <p:spPr>
          <a:xfrm>
            <a:off x="809625" y="2727870"/>
            <a:ext cx="5048250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HyperText</a:t>
            </a:r>
            <a:r>
              <a:rPr lang="en-US" sz="160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Refers to links that connect web pages to one another.</a:t>
            </a:r>
            <a:endParaRPr sz="1800" dirty="0"/>
          </a:p>
        </p:txBody>
      </p:sp>
      <p:sp>
        <p:nvSpPr>
          <p:cNvPr id="136" name="Google Shape;136;p16"/>
          <p:cNvSpPr txBox="1"/>
          <p:nvPr/>
        </p:nvSpPr>
        <p:spPr>
          <a:xfrm>
            <a:off x="561975" y="3618398"/>
            <a:ext cx="9525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800"/>
          </a:p>
        </p:txBody>
      </p:sp>
      <p:sp>
        <p:nvSpPr>
          <p:cNvPr id="137" name="Google Shape;137;p16"/>
          <p:cNvSpPr txBox="1"/>
          <p:nvPr/>
        </p:nvSpPr>
        <p:spPr>
          <a:xfrm>
            <a:off x="809625" y="3543151"/>
            <a:ext cx="5048250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Markup Language: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Uses </a:t>
            </a:r>
            <a:r>
              <a:rPr lang="en-US" sz="1600" b="0" i="0" u="none" strike="noStrike" cap="none" dirty="0">
                <a:solidFill>
                  <a:srgbClr val="FF0000"/>
                </a:solidFill>
                <a:latin typeface="Inter"/>
                <a:ea typeface="Inter"/>
                <a:cs typeface="Inter"/>
                <a:sym typeface="Inter"/>
              </a:rPr>
              <a:t>tags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to annotate text, images, and other content for display.</a:t>
            </a:r>
            <a:endParaRPr sz="1800" dirty="0"/>
          </a:p>
        </p:txBody>
      </p:sp>
      <p:sp>
        <p:nvSpPr>
          <p:cNvPr id="138" name="Google Shape;138;p16"/>
          <p:cNvSpPr txBox="1"/>
          <p:nvPr/>
        </p:nvSpPr>
        <p:spPr>
          <a:xfrm>
            <a:off x="561975" y="4424154"/>
            <a:ext cx="9525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800"/>
          </a:p>
        </p:txBody>
      </p:sp>
      <p:sp>
        <p:nvSpPr>
          <p:cNvPr id="139" name="Google Shape;139;p16"/>
          <p:cNvSpPr txBox="1"/>
          <p:nvPr/>
        </p:nvSpPr>
        <p:spPr>
          <a:xfrm>
            <a:off x="809625" y="4348906"/>
            <a:ext cx="5048250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It provides the bare-bones structural foundation of a website, much like the skeleton of a house.</a:t>
            </a:r>
            <a:endParaRPr sz="1800"/>
          </a:p>
        </p:txBody>
      </p:sp>
      <p:sp>
        <p:nvSpPr>
          <p:cNvPr id="140" name="Google Shape;140;p16"/>
          <p:cNvSpPr txBox="1"/>
          <p:nvPr/>
        </p:nvSpPr>
        <p:spPr>
          <a:xfrm>
            <a:off x="561975" y="5287059"/>
            <a:ext cx="9525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800"/>
          </a:p>
        </p:txBody>
      </p:sp>
      <p:sp>
        <p:nvSpPr>
          <p:cNvPr id="141" name="Google Shape;141;p16"/>
          <p:cNvSpPr txBox="1"/>
          <p:nvPr/>
        </p:nvSpPr>
        <p:spPr>
          <a:xfrm>
            <a:off x="809625" y="5211812"/>
            <a:ext cx="5048250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HTML tells the browser </a:t>
            </a:r>
            <a:r>
              <a:rPr lang="en-US" sz="1600" b="0" i="1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what</a:t>
            </a:r>
            <a:r>
              <a:rPr lang="en-US" sz="16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the content is (e.g., this is a heading, this is a paragraph).</a:t>
            </a:r>
            <a:endParaRPr sz="1800"/>
          </a:p>
        </p:txBody>
      </p:sp>
      <p:sp>
        <p:nvSpPr>
          <p:cNvPr id="143" name="Google Shape;143;p16"/>
          <p:cNvSpPr txBox="1"/>
          <p:nvPr/>
        </p:nvSpPr>
        <p:spPr>
          <a:xfrm>
            <a:off x="571500" y="790575"/>
            <a:ext cx="116014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What is </a:t>
            </a:r>
            <a:r>
              <a:rPr lang="en-US" sz="3150" b="0" i="0" u="none" strike="noStrike" cap="none" dirty="0">
                <a:solidFill>
                  <a:srgbClr val="FF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HTML</a:t>
            </a:r>
            <a:r>
              <a:rPr lang="en-US" sz="3150" b="0" i="0" u="none" strike="noStrike" cap="none" dirty="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?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55E943-2384-4628-A1CD-8E5D25A9E8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0005" y="2121693"/>
            <a:ext cx="2614613" cy="2614613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AFDCA4B-863E-4EB8-9630-C62AD851F45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Prepared By MD Yeakob Ali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97F9E-9D42-4DB2-8AEF-361B1F1AA82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47850"/>
            <a:ext cx="3492549" cy="3466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1847850"/>
            <a:ext cx="3492549" cy="3466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1847850"/>
            <a:ext cx="3492549" cy="3466951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7"/>
          <p:cNvSpPr txBox="1"/>
          <p:nvPr/>
        </p:nvSpPr>
        <p:spPr>
          <a:xfrm>
            <a:off x="1397659" y="2890495"/>
            <a:ext cx="184023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Opening Tag</a:t>
            </a:r>
            <a:endParaRPr dirty="0"/>
          </a:p>
        </p:txBody>
      </p:sp>
      <p:sp>
        <p:nvSpPr>
          <p:cNvPr id="153" name="Google Shape;153;p17"/>
          <p:cNvSpPr txBox="1"/>
          <p:nvPr/>
        </p:nvSpPr>
        <p:spPr>
          <a:xfrm>
            <a:off x="914400" y="3457575"/>
            <a:ext cx="2806749" cy="172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Consists of the element name wrapped in angle brackets. This states where the element begins or starts to take effect. 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Example:  </a:t>
            </a:r>
            <a:r>
              <a:rPr lang="en-US" dirty="0">
                <a:solidFill>
                  <a:srgbClr val="FF0000"/>
                </a:solidFill>
                <a:latin typeface="Inter"/>
                <a:ea typeface="Inter"/>
                <a:cs typeface="Inter"/>
                <a:sym typeface="Inter"/>
              </a:rPr>
              <a:t>&lt;P&gt;</a:t>
            </a:r>
            <a:r>
              <a:rPr lang="en-US" b="0" i="0" u="none" strike="noStrike" cap="none" dirty="0">
                <a:solidFill>
                  <a:srgbClr val="FF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600" dirty="0">
              <a:solidFill>
                <a:srgbClr val="FF0000"/>
              </a:solidFill>
            </a:endParaRPr>
          </a:p>
        </p:txBody>
      </p:sp>
      <p:sp>
        <p:nvSpPr>
          <p:cNvPr id="154" name="Google Shape;154;p17"/>
          <p:cNvSpPr txBox="1"/>
          <p:nvPr/>
        </p:nvSpPr>
        <p:spPr>
          <a:xfrm>
            <a:off x="5518517" y="2914650"/>
            <a:ext cx="116014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Content</a:t>
            </a:r>
            <a:endParaRPr dirty="0"/>
          </a:p>
        </p:txBody>
      </p:sp>
      <p:sp>
        <p:nvSpPr>
          <p:cNvPr id="155" name="Google Shape;155;p17"/>
          <p:cNvSpPr txBox="1"/>
          <p:nvPr/>
        </p:nvSpPr>
        <p:spPr>
          <a:xfrm>
            <a:off x="4692699" y="3457575"/>
            <a:ext cx="2806749" cy="1378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This is the actual information (text, images, or other elements) that the tag encloses and affects. Example: </a:t>
            </a:r>
            <a:r>
              <a:rPr lang="en-US" b="0" i="1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"</a:t>
            </a:r>
            <a:r>
              <a:rPr lang="en-US" b="0" i="1" u="none" strike="noStrike" cap="none" dirty="0">
                <a:solidFill>
                  <a:srgbClr val="FF0000"/>
                </a:solidFill>
                <a:latin typeface="Inter"/>
                <a:ea typeface="Inter"/>
                <a:cs typeface="Inter"/>
                <a:sym typeface="Inter"/>
              </a:rPr>
              <a:t>Hello World</a:t>
            </a:r>
            <a:r>
              <a:rPr lang="en-US" b="0" i="1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"</a:t>
            </a:r>
            <a:endParaRPr sz="1600" dirty="0"/>
          </a:p>
        </p:txBody>
      </p:sp>
      <p:sp>
        <p:nvSpPr>
          <p:cNvPr id="156" name="Google Shape;156;p17"/>
          <p:cNvSpPr txBox="1"/>
          <p:nvPr/>
        </p:nvSpPr>
        <p:spPr>
          <a:xfrm>
            <a:off x="9024267" y="2914650"/>
            <a:ext cx="1700212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Closing Tag</a:t>
            </a:r>
            <a:endParaRPr dirty="0"/>
          </a:p>
        </p:txBody>
      </p:sp>
      <p:sp>
        <p:nvSpPr>
          <p:cNvPr id="157" name="Google Shape;157;p17"/>
          <p:cNvSpPr txBox="1"/>
          <p:nvPr/>
        </p:nvSpPr>
        <p:spPr>
          <a:xfrm>
            <a:off x="8470999" y="3457575"/>
            <a:ext cx="2806749" cy="172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Same as the opening tag, but includes a forward slash before the element name. It states where the element ends. Example: </a:t>
            </a:r>
            <a:r>
              <a:rPr lang="en-US" b="0" i="0" u="none" strike="noStrike" cap="none" dirty="0">
                <a:solidFill>
                  <a:srgbClr val="FF0000"/>
                </a:solidFill>
                <a:latin typeface="Inter"/>
                <a:ea typeface="Inter"/>
                <a:cs typeface="Inter"/>
                <a:sym typeface="Inter"/>
              </a:rPr>
              <a:t>&lt;/P&gt;</a:t>
            </a:r>
            <a:endParaRPr sz="1600" dirty="0">
              <a:solidFill>
                <a:srgbClr val="FF0000"/>
              </a:solidFill>
            </a:endParaRPr>
          </a:p>
        </p:txBody>
      </p:sp>
      <p:pic>
        <p:nvPicPr>
          <p:cNvPr id="158" name="Google Shape;158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933575" y="2228850"/>
            <a:ext cx="50482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1874" y="2228850"/>
            <a:ext cx="35242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490174" y="2228850"/>
            <a:ext cx="504825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7"/>
          <p:cNvSpPr txBox="1"/>
          <p:nvPr/>
        </p:nvSpPr>
        <p:spPr>
          <a:xfrm>
            <a:off x="263574" y="901628"/>
            <a:ext cx="116014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FF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Anatomy </a:t>
            </a:r>
            <a:r>
              <a:rPr lang="en-US" sz="3150" b="0" i="0" u="none" strike="noStrike" cap="none" dirty="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of an HTML Element</a:t>
            </a:r>
            <a:endParaRPr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CB5EAC1-BA15-4DAC-A196-097297A258E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Prepared By MD Yeakob Ali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B73951A-AB9A-4FF3-A664-1E45D44BF7F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552574"/>
            <a:ext cx="5467502" cy="473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8"/>
          <p:cNvSpPr txBox="1"/>
          <p:nvPr/>
        </p:nvSpPr>
        <p:spPr>
          <a:xfrm>
            <a:off x="962025" y="1943100"/>
            <a:ext cx="4730591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Standard Document Structure</a:t>
            </a:r>
            <a:endParaRPr/>
          </a:p>
        </p:txBody>
      </p:sp>
      <p:sp>
        <p:nvSpPr>
          <p:cNvPr id="171" name="Google Shape;171;p18"/>
          <p:cNvSpPr/>
          <p:nvPr/>
        </p:nvSpPr>
        <p:spPr>
          <a:xfrm>
            <a:off x="962025" y="2486025"/>
            <a:ext cx="450532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 txBox="1"/>
          <p:nvPr/>
        </p:nvSpPr>
        <p:spPr>
          <a:xfrm>
            <a:off x="962025" y="2695575"/>
            <a:ext cx="4505325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Every valid HTML document requires a specific foundational structure for the browser to render it correctly.</a:t>
            </a:r>
            <a:endParaRPr sz="1600"/>
          </a:p>
        </p:txBody>
      </p:sp>
      <p:sp>
        <p:nvSpPr>
          <p:cNvPr id="173" name="Google Shape;173;p18"/>
          <p:cNvSpPr txBox="1"/>
          <p:nvPr/>
        </p:nvSpPr>
        <p:spPr>
          <a:xfrm>
            <a:off x="6724650" y="1943100"/>
            <a:ext cx="4730591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Code Example</a:t>
            </a:r>
            <a:endParaRPr/>
          </a:p>
        </p:txBody>
      </p:sp>
      <p:sp>
        <p:nvSpPr>
          <p:cNvPr id="174" name="Google Shape;174;p18"/>
          <p:cNvSpPr/>
          <p:nvPr/>
        </p:nvSpPr>
        <p:spPr>
          <a:xfrm>
            <a:off x="6724650" y="2486025"/>
            <a:ext cx="450532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 txBox="1"/>
          <p:nvPr/>
        </p:nvSpPr>
        <p:spPr>
          <a:xfrm>
            <a:off x="990600" y="3908018"/>
            <a:ext cx="9525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600"/>
          </a:p>
        </p:txBody>
      </p:sp>
      <p:sp>
        <p:nvSpPr>
          <p:cNvPr id="176" name="Google Shape;176;p18"/>
          <p:cNvSpPr txBox="1"/>
          <p:nvPr/>
        </p:nvSpPr>
        <p:spPr>
          <a:xfrm>
            <a:off x="1200150" y="3813720"/>
            <a:ext cx="468630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&lt;!Doctype html&gt; </a:t>
            </a:r>
            <a:r>
              <a:rPr lang="en-US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: Declares the document as HTML5.</a:t>
            </a:r>
            <a:endParaRPr sz="1600" dirty="0"/>
          </a:p>
        </p:txBody>
      </p:sp>
      <p:sp>
        <p:nvSpPr>
          <p:cNvPr id="177" name="Google Shape;177;p18"/>
          <p:cNvSpPr txBox="1"/>
          <p:nvPr/>
        </p:nvSpPr>
        <p:spPr>
          <a:xfrm>
            <a:off x="990600" y="4296608"/>
            <a:ext cx="9525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600"/>
          </a:p>
        </p:txBody>
      </p:sp>
      <p:sp>
        <p:nvSpPr>
          <p:cNvPr id="178" name="Google Shape;178;p18"/>
          <p:cNvSpPr txBox="1"/>
          <p:nvPr/>
        </p:nvSpPr>
        <p:spPr>
          <a:xfrm>
            <a:off x="1200150" y="4202310"/>
            <a:ext cx="426720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&lt;HTML&gt; </a:t>
            </a:r>
            <a:r>
              <a:rPr lang="en-US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: The root element wrapping all content.</a:t>
            </a:r>
            <a:endParaRPr sz="1600" dirty="0"/>
          </a:p>
        </p:txBody>
      </p:sp>
      <p:sp>
        <p:nvSpPr>
          <p:cNvPr id="179" name="Google Shape;179;p18"/>
          <p:cNvSpPr txBox="1"/>
          <p:nvPr/>
        </p:nvSpPr>
        <p:spPr>
          <a:xfrm>
            <a:off x="990600" y="4685198"/>
            <a:ext cx="9525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600"/>
          </a:p>
        </p:txBody>
      </p:sp>
      <p:sp>
        <p:nvSpPr>
          <p:cNvPr id="180" name="Google Shape;180;p18"/>
          <p:cNvSpPr txBox="1"/>
          <p:nvPr/>
        </p:nvSpPr>
        <p:spPr>
          <a:xfrm>
            <a:off x="1200150" y="4590901"/>
            <a:ext cx="4267200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&lt;HEAD&gt; </a:t>
            </a:r>
            <a:r>
              <a:rPr lang="en-US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: Contains meta-information (title, charset) not visible on the page.</a:t>
            </a:r>
            <a:endParaRPr sz="1600" dirty="0"/>
          </a:p>
        </p:txBody>
      </p:sp>
      <p:sp>
        <p:nvSpPr>
          <p:cNvPr id="181" name="Google Shape;181;p18"/>
          <p:cNvSpPr txBox="1"/>
          <p:nvPr/>
        </p:nvSpPr>
        <p:spPr>
          <a:xfrm>
            <a:off x="990600" y="5348079"/>
            <a:ext cx="9525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600"/>
          </a:p>
        </p:txBody>
      </p:sp>
      <p:sp>
        <p:nvSpPr>
          <p:cNvPr id="182" name="Google Shape;182;p18"/>
          <p:cNvSpPr txBox="1"/>
          <p:nvPr/>
        </p:nvSpPr>
        <p:spPr>
          <a:xfrm>
            <a:off x="1200150" y="5253781"/>
            <a:ext cx="4267200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&lt;body&gt; </a:t>
            </a:r>
            <a:r>
              <a:rPr lang="en-US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: Contains all the visible content (headings, paragraphs, images).</a:t>
            </a:r>
            <a:endParaRPr sz="1600" dirty="0"/>
          </a:p>
        </p:txBody>
      </p:sp>
      <p:sp>
        <p:nvSpPr>
          <p:cNvPr id="190" name="Google Shape;190;p18"/>
          <p:cNvSpPr txBox="1"/>
          <p:nvPr/>
        </p:nvSpPr>
        <p:spPr>
          <a:xfrm>
            <a:off x="571500" y="571500"/>
            <a:ext cx="116014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HTML </a:t>
            </a:r>
            <a:r>
              <a:rPr lang="en-US" sz="3150" b="0" i="0" u="none" strike="noStrike" cap="none" dirty="0">
                <a:solidFill>
                  <a:srgbClr val="FF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Boilerplate</a:t>
            </a:r>
            <a:endParaRPr dirty="0">
              <a:solidFill>
                <a:srgbClr val="FF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8EC394-15D4-49E6-8C27-A564EBC133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3561" y="2657769"/>
            <a:ext cx="5467502" cy="3128992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A544A91-5443-4B85-A7DE-33CFD1D3777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Prepared By MD Yeakob Ali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ABDBB0-00FA-407D-B1C1-2EE91B38F29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9"/>
          <p:cNvSpPr txBox="1"/>
          <p:nvPr/>
        </p:nvSpPr>
        <p:spPr>
          <a:xfrm>
            <a:off x="3350418" y="3055001"/>
            <a:ext cx="5491163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Basic HTML </a:t>
            </a:r>
            <a:r>
              <a:rPr lang="en-US" sz="2400" b="1" i="0" u="none" strike="noStrike" cap="none" dirty="0">
                <a:solidFill>
                  <a:srgbClr val="FF0000"/>
                </a:solidFill>
                <a:latin typeface="Inter"/>
                <a:ea typeface="Inter"/>
                <a:cs typeface="Inter"/>
                <a:sym typeface="Inter"/>
              </a:rPr>
              <a:t>Tags &amp; Text Formatting</a:t>
            </a:r>
            <a:endParaRPr sz="1800" b="1" dirty="0">
              <a:solidFill>
                <a:srgbClr val="FF0000"/>
              </a:solidFill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5381624" y="3749873"/>
            <a:ext cx="142875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389FB74-29BD-4262-9246-4910949C9AA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Prepared By MD Yeakob Ali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416E4B-F03A-4118-B614-3E37CBB3034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66850"/>
            <a:ext cx="5286375" cy="4362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552575"/>
            <a:ext cx="5286375" cy="4064049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0"/>
          <p:cNvSpPr txBox="1"/>
          <p:nvPr/>
        </p:nvSpPr>
        <p:spPr>
          <a:xfrm>
            <a:off x="962025" y="1943100"/>
            <a:ext cx="4730591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Headings (h1 to h6)</a:t>
            </a:r>
            <a:endParaRPr/>
          </a:p>
        </p:txBody>
      </p:sp>
      <p:sp>
        <p:nvSpPr>
          <p:cNvPr id="209" name="Google Shape;209;p20"/>
          <p:cNvSpPr/>
          <p:nvPr/>
        </p:nvSpPr>
        <p:spPr>
          <a:xfrm>
            <a:off x="962025" y="2486025"/>
            <a:ext cx="450532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0"/>
          <p:cNvSpPr txBox="1"/>
          <p:nvPr/>
        </p:nvSpPr>
        <p:spPr>
          <a:xfrm>
            <a:off x="962025" y="2695575"/>
            <a:ext cx="450532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HTML offers six levels of headings.  is the most important (usually the main title), and  is the least important.</a:t>
            </a:r>
            <a:endParaRPr/>
          </a:p>
        </p:txBody>
      </p:sp>
      <p:sp>
        <p:nvSpPr>
          <p:cNvPr id="211" name="Google Shape;211;p20"/>
          <p:cNvSpPr txBox="1"/>
          <p:nvPr/>
        </p:nvSpPr>
        <p:spPr>
          <a:xfrm>
            <a:off x="962024" y="5097959"/>
            <a:ext cx="4505325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1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* Search engines use headings to index the structure and content of your web pages.</a:t>
            </a:r>
            <a:endParaRPr dirty="0"/>
          </a:p>
        </p:txBody>
      </p:sp>
      <p:sp>
        <p:nvSpPr>
          <p:cNvPr id="212" name="Google Shape;212;p20"/>
          <p:cNvSpPr txBox="1"/>
          <p:nvPr/>
        </p:nvSpPr>
        <p:spPr>
          <a:xfrm>
            <a:off x="6724650" y="1943100"/>
            <a:ext cx="4730591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Paragraphs (p)</a:t>
            </a:r>
            <a:endParaRPr/>
          </a:p>
        </p:txBody>
      </p:sp>
      <p:sp>
        <p:nvSpPr>
          <p:cNvPr id="213" name="Google Shape;213;p20"/>
          <p:cNvSpPr/>
          <p:nvPr/>
        </p:nvSpPr>
        <p:spPr>
          <a:xfrm>
            <a:off x="6724650" y="2486025"/>
            <a:ext cx="450532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6724650" y="2695575"/>
            <a:ext cx="450532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 element represents a paragraph. Browsers automatically add a single blank line before and after each paragraph.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295275" y="600574"/>
            <a:ext cx="116014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00B05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Headings</a:t>
            </a:r>
            <a:r>
              <a:rPr lang="en-US" sz="3150" b="0" i="0" u="none" strike="noStrike" cap="none" dirty="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and </a:t>
            </a:r>
            <a:r>
              <a:rPr lang="en-US" sz="3150" b="0" i="0" u="none" strike="noStrike" cap="none" dirty="0">
                <a:solidFill>
                  <a:srgbClr val="00B05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Paragraphs</a:t>
            </a:r>
            <a:endParaRPr dirty="0">
              <a:solidFill>
                <a:srgbClr val="00B05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30104A-1CF9-4D6E-A54A-7EA024A417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6679" y="3567144"/>
            <a:ext cx="2895825" cy="138794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1EF9FBD-F332-4FAD-BD09-B0928F4F86F5}"/>
              </a:ext>
            </a:extLst>
          </p:cNvPr>
          <p:cNvSpPr txBox="1"/>
          <p:nvPr/>
        </p:nvSpPr>
        <p:spPr>
          <a:xfrm>
            <a:off x="6724650" y="3783986"/>
            <a:ext cx="4881562" cy="135158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&lt;p&gt;</a:t>
            </a: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is a standard paragraph of text. It contains multiple sentences and appears as a neat block on the screen</a:t>
            </a:r>
            <a:r>
              <a:rPr lang="en-US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.&lt;/p&gt;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&lt;p&gt;</a:t>
            </a:r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is the second paragraph. It is automatically separated from the first one by a natural space.</a:t>
            </a:r>
            <a:r>
              <a:rPr lang="en-US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&lt;/p&gt;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EC63A-0B94-4F20-AC54-9109FB5E751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Prepared By MD Yeakob Ali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33BA73-7082-4D1E-BD31-688D993BAE2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52575"/>
            <a:ext cx="3492549" cy="3609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1552575"/>
            <a:ext cx="3492549" cy="3609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1552575"/>
            <a:ext cx="3492549" cy="3609826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1"/>
          <p:cNvSpPr txBox="1"/>
          <p:nvPr/>
        </p:nvSpPr>
        <p:spPr>
          <a:xfrm>
            <a:off x="914400" y="2619375"/>
            <a:ext cx="193024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Bold &amp; Strong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4692699" y="2619375"/>
            <a:ext cx="2820352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Italic &amp; Emphasized</a:t>
            </a:r>
            <a:endParaRPr/>
          </a:p>
        </p:txBody>
      </p:sp>
      <p:sp>
        <p:nvSpPr>
          <p:cNvPr id="230" name="Google Shape;230;p21"/>
          <p:cNvSpPr txBox="1"/>
          <p:nvPr/>
        </p:nvSpPr>
        <p:spPr>
          <a:xfrm>
            <a:off x="8470999" y="2619375"/>
            <a:ext cx="246030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Mark &amp; Underline</a:t>
            </a:r>
            <a:endParaRPr/>
          </a:p>
        </p:txBody>
      </p:sp>
      <p:pic>
        <p:nvPicPr>
          <p:cNvPr id="233" name="Google Shape;233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57400" y="1933575"/>
            <a:ext cx="30480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35699" y="1933575"/>
            <a:ext cx="30480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13999" y="1933575"/>
            <a:ext cx="447675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1"/>
          <p:cNvSpPr txBox="1"/>
          <p:nvPr/>
        </p:nvSpPr>
        <p:spPr>
          <a:xfrm>
            <a:off x="302150" y="582051"/>
            <a:ext cx="116014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FF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Text Formatting </a:t>
            </a:r>
            <a:r>
              <a:rPr lang="en-US" sz="3150" b="0" i="0" u="none" strike="noStrike" cap="none" dirty="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Tags</a:t>
            </a:r>
            <a:endParaRPr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4B7807C-546B-44AA-8641-12E7F4D3D4A4}"/>
              </a:ext>
            </a:extLst>
          </p:cNvPr>
          <p:cNvSpPr txBox="1"/>
          <p:nvPr/>
        </p:nvSpPr>
        <p:spPr>
          <a:xfrm>
            <a:off x="895349" y="3019425"/>
            <a:ext cx="2883097" cy="1670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b="0" i="0" dirty="0">
                <a:solidFill>
                  <a:srgbClr val="0369A1"/>
                </a:solidFill>
                <a:effectLst/>
                <a:latin typeface="Fira Code" panose="020B0809050000020004" pitchFamily="49" charset="0"/>
              </a:rPr>
              <a:t>&lt;b&gt;</a:t>
            </a:r>
            <a:r>
              <a:rPr lang="en-US" b="0" i="0" dirty="0">
                <a:solidFill>
                  <a:srgbClr val="475569"/>
                </a:solidFill>
                <a:effectLst/>
                <a:latin typeface="Inter" panose="020B0604020202020204" charset="0"/>
              </a:rPr>
              <a:t> makes text bold without extra importance.</a:t>
            </a:r>
          </a:p>
          <a:p>
            <a:pPr algn="l">
              <a:lnSpc>
                <a:spcPct val="150000"/>
              </a:lnSpc>
            </a:pPr>
            <a:r>
              <a:rPr lang="en-US" b="0" i="0" dirty="0">
                <a:solidFill>
                  <a:srgbClr val="0369A1"/>
                </a:solidFill>
                <a:effectLst/>
                <a:latin typeface="Fira Code" panose="020B0809050000020004" pitchFamily="49" charset="0"/>
              </a:rPr>
              <a:t>&lt;strong&gt;</a:t>
            </a:r>
            <a:r>
              <a:rPr lang="en-US" b="0" i="0" dirty="0">
                <a:solidFill>
                  <a:srgbClr val="475569"/>
                </a:solidFill>
                <a:effectLst/>
                <a:latin typeface="Inter" panose="020B0604020202020204" charset="0"/>
              </a:rPr>
              <a:t> makes text bold </a:t>
            </a:r>
            <a:r>
              <a:rPr lang="en-US" b="0" i="1" dirty="0">
                <a:solidFill>
                  <a:srgbClr val="475569"/>
                </a:solidFill>
                <a:effectLst/>
                <a:latin typeface="Inter" panose="020B0604020202020204" charset="0"/>
              </a:rPr>
              <a:t>and</a:t>
            </a:r>
            <a:r>
              <a:rPr lang="en-US" b="0" i="0" dirty="0">
                <a:solidFill>
                  <a:srgbClr val="475569"/>
                </a:solidFill>
                <a:effectLst/>
                <a:latin typeface="Inter" panose="020B0604020202020204" charset="0"/>
              </a:rPr>
              <a:t> defines it as having strong importance (semantic).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390ECFB-D223-40D5-B793-F71A1349683D}"/>
              </a:ext>
            </a:extLst>
          </p:cNvPr>
          <p:cNvSpPr txBox="1"/>
          <p:nvPr/>
        </p:nvSpPr>
        <p:spPr>
          <a:xfrm>
            <a:off x="4622898" y="3019425"/>
            <a:ext cx="2933849" cy="1670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0" i="0" dirty="0">
                <a:solidFill>
                  <a:srgbClr val="0369A1"/>
                </a:solidFill>
                <a:effectLst/>
                <a:latin typeface="Fira Code" panose="020B0809050000020004" pitchFamily="49" charset="0"/>
              </a:rPr>
              <a:t>&lt;</a:t>
            </a:r>
            <a:r>
              <a:rPr lang="en-US" b="0" i="0" dirty="0" err="1">
                <a:solidFill>
                  <a:srgbClr val="0369A1"/>
                </a:solidFill>
                <a:effectLst/>
                <a:latin typeface="Fira Code" panose="020B0809050000020004" pitchFamily="49" charset="0"/>
              </a:rPr>
              <a:t>i</a:t>
            </a:r>
            <a:r>
              <a:rPr lang="en-US" b="0" i="0" dirty="0">
                <a:solidFill>
                  <a:srgbClr val="0369A1"/>
                </a:solidFill>
                <a:effectLst/>
                <a:latin typeface="Fira Code" panose="020B0809050000020004" pitchFamily="49" charset="0"/>
              </a:rPr>
              <a:t>&gt;</a:t>
            </a:r>
            <a:r>
              <a:rPr lang="en-US" b="0" i="0" dirty="0">
                <a:solidFill>
                  <a:srgbClr val="475569"/>
                </a:solidFill>
                <a:effectLst/>
                <a:latin typeface="Inter" panose="020B0604020202020204" charset="0"/>
              </a:rPr>
              <a:t> italicizes text (e.g., technical terms).</a:t>
            </a:r>
          </a:p>
          <a:p>
            <a:pPr>
              <a:lnSpc>
                <a:spcPct val="150000"/>
              </a:lnSpc>
            </a:pPr>
            <a:r>
              <a:rPr lang="en-US" b="0" i="0" dirty="0">
                <a:solidFill>
                  <a:srgbClr val="0369A1"/>
                </a:solidFill>
                <a:effectLst/>
                <a:latin typeface="Fira Code" panose="020B0809050000020004" pitchFamily="49" charset="0"/>
              </a:rPr>
              <a:t>&lt;</a:t>
            </a:r>
            <a:r>
              <a:rPr lang="en-US" b="0" i="0" dirty="0" err="1">
                <a:solidFill>
                  <a:srgbClr val="0369A1"/>
                </a:solidFill>
                <a:effectLst/>
                <a:latin typeface="Fira Code" panose="020B0809050000020004" pitchFamily="49" charset="0"/>
              </a:rPr>
              <a:t>em</a:t>
            </a:r>
            <a:r>
              <a:rPr lang="en-US" b="0" i="0" dirty="0">
                <a:solidFill>
                  <a:srgbClr val="0369A1"/>
                </a:solidFill>
                <a:effectLst/>
                <a:latin typeface="Fira Code" panose="020B0809050000020004" pitchFamily="49" charset="0"/>
              </a:rPr>
              <a:t>&gt;</a:t>
            </a:r>
            <a:r>
              <a:rPr lang="en-US" b="0" i="0" dirty="0">
                <a:solidFill>
                  <a:srgbClr val="475569"/>
                </a:solidFill>
                <a:effectLst/>
                <a:latin typeface="Inter" panose="020B0604020202020204" charset="0"/>
              </a:rPr>
              <a:t> emphasizes text semantically, often read with verbal stress by screen readers.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1BF0ABD-69EE-4B2A-A9EC-C10F99FCFCBA}"/>
              </a:ext>
            </a:extLst>
          </p:cNvPr>
          <p:cNvSpPr txBox="1"/>
          <p:nvPr/>
        </p:nvSpPr>
        <p:spPr>
          <a:xfrm>
            <a:off x="8443986" y="3019425"/>
            <a:ext cx="2787699" cy="1670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b="0" i="0" dirty="0">
                <a:solidFill>
                  <a:srgbClr val="0369A1"/>
                </a:solidFill>
                <a:effectLst/>
                <a:latin typeface="Fira Code" panose="020B0809050000020004" pitchFamily="49" charset="0"/>
              </a:rPr>
              <a:t>&lt;mark&gt;</a:t>
            </a:r>
            <a:r>
              <a:rPr lang="en-US" b="0" i="0" dirty="0">
                <a:solidFill>
                  <a:srgbClr val="475569"/>
                </a:solidFill>
                <a:effectLst/>
                <a:latin typeface="Inter" panose="020B0604020202020204" charset="0"/>
              </a:rPr>
              <a:t> highlights text, usually with a yellow background.</a:t>
            </a:r>
          </a:p>
          <a:p>
            <a:pPr algn="l">
              <a:lnSpc>
                <a:spcPct val="150000"/>
              </a:lnSpc>
            </a:pPr>
            <a:r>
              <a:rPr lang="en-US" b="0" i="0" dirty="0">
                <a:solidFill>
                  <a:srgbClr val="0369A1"/>
                </a:solidFill>
                <a:effectLst/>
                <a:latin typeface="Fira Code" panose="020B0809050000020004" pitchFamily="49" charset="0"/>
              </a:rPr>
              <a:t>&lt;u&gt;</a:t>
            </a:r>
            <a:r>
              <a:rPr lang="en-US" b="0" i="0" dirty="0">
                <a:solidFill>
                  <a:srgbClr val="475569"/>
                </a:solidFill>
                <a:effectLst/>
                <a:latin typeface="Inter" panose="020B0604020202020204" charset="0"/>
              </a:rPr>
              <a:t> underlines text (use sparingly to avoid confusion with links).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68ED3E-A492-4E8E-8D2B-A8DE5B1FCFB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Prepared By MD Yeakob Ali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D291A3-7B48-4CA3-BD43-5AC5818716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52575"/>
            <a:ext cx="3492549" cy="439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1552575"/>
            <a:ext cx="3492549" cy="439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1552575"/>
            <a:ext cx="3492549" cy="4391025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2"/>
          <p:cNvSpPr txBox="1"/>
          <p:nvPr/>
        </p:nvSpPr>
        <p:spPr>
          <a:xfrm>
            <a:off x="914400" y="2619375"/>
            <a:ext cx="222027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Unordered Lists</a:t>
            </a:r>
            <a:endParaRPr/>
          </a:p>
        </p:txBody>
      </p:sp>
      <p:sp>
        <p:nvSpPr>
          <p:cNvPr id="249" name="Google Shape;249;p22"/>
          <p:cNvSpPr txBox="1"/>
          <p:nvPr/>
        </p:nvSpPr>
        <p:spPr>
          <a:xfrm>
            <a:off x="914400" y="3162300"/>
            <a:ext cx="2806749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Used for items where order doesn't matter. Rendered with bullet points.</a:t>
            </a:r>
            <a:endParaRPr/>
          </a:p>
        </p:txBody>
      </p:sp>
      <p:sp>
        <p:nvSpPr>
          <p:cNvPr id="250" name="Google Shape;250;p22"/>
          <p:cNvSpPr txBox="1"/>
          <p:nvPr/>
        </p:nvSpPr>
        <p:spPr>
          <a:xfrm>
            <a:off x="4692699" y="2619375"/>
            <a:ext cx="1870233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Ordered Lists</a:t>
            </a:r>
            <a:endParaRPr/>
          </a:p>
        </p:txBody>
      </p:sp>
      <p:sp>
        <p:nvSpPr>
          <p:cNvPr id="251" name="Google Shape;251;p22"/>
          <p:cNvSpPr txBox="1"/>
          <p:nvPr/>
        </p:nvSpPr>
        <p:spPr>
          <a:xfrm>
            <a:off x="4692699" y="3162300"/>
            <a:ext cx="2806749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Used for sequential steps or ranked items. Rendered with numbers.</a:t>
            </a:r>
            <a:endParaRPr/>
          </a:p>
        </p:txBody>
      </p:sp>
      <p:sp>
        <p:nvSpPr>
          <p:cNvPr id="252" name="Google Shape;252;p22"/>
          <p:cNvSpPr txBox="1"/>
          <p:nvPr/>
        </p:nvSpPr>
        <p:spPr>
          <a:xfrm>
            <a:off x="8470999" y="2619375"/>
            <a:ext cx="2350293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Description Lists</a:t>
            </a:r>
            <a:endParaRPr/>
          </a:p>
        </p:txBody>
      </p:sp>
      <p:sp>
        <p:nvSpPr>
          <p:cNvPr id="253" name="Google Shape;253;p22"/>
          <p:cNvSpPr txBox="1"/>
          <p:nvPr/>
        </p:nvSpPr>
        <p:spPr>
          <a:xfrm>
            <a:off x="8470999" y="3162300"/>
            <a:ext cx="2806749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Used for key-value pairs like dictionaries.</a:t>
            </a:r>
            <a:endParaRPr/>
          </a:p>
        </p:txBody>
      </p:sp>
      <p:pic>
        <p:nvPicPr>
          <p:cNvPr id="254" name="Google Shape;254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990725" y="1933574"/>
            <a:ext cx="400050" cy="4600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69024" y="1933574"/>
            <a:ext cx="400050" cy="4600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547324" y="1933574"/>
            <a:ext cx="447675" cy="460033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2"/>
          <p:cNvSpPr txBox="1"/>
          <p:nvPr/>
        </p:nvSpPr>
        <p:spPr>
          <a:xfrm>
            <a:off x="295275" y="560783"/>
            <a:ext cx="116014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Organizing Data: </a:t>
            </a:r>
            <a:r>
              <a:rPr lang="en-US" sz="3150" b="0" i="0" u="none" strike="noStrike" cap="none" dirty="0">
                <a:solidFill>
                  <a:srgbClr val="FF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Lists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2099DB0-89EC-48B4-9111-8AE522DE4EEF}"/>
              </a:ext>
            </a:extLst>
          </p:cNvPr>
          <p:cNvSpPr txBox="1"/>
          <p:nvPr/>
        </p:nvSpPr>
        <p:spPr>
          <a:xfrm>
            <a:off x="914400" y="4262766"/>
            <a:ext cx="2971948" cy="117403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it-IT" sz="1200" b="0" i="0" dirty="0">
                <a:solidFill>
                  <a:srgbClr val="38BDF8"/>
                </a:solidFill>
                <a:effectLst/>
                <a:latin typeface="Fira Code" panose="020B0809050000020004" pitchFamily="49" charset="0"/>
              </a:rPr>
              <a:t>&lt;ul&gt;</a:t>
            </a:r>
            <a:r>
              <a:rPr lang="it-IT" sz="1200" b="0" i="0" dirty="0">
                <a:solidFill>
                  <a:srgbClr val="E2E8F0"/>
                </a:solidFill>
                <a:effectLst/>
                <a:latin typeface="Fira Code" panose="020B0809050000020004" pitchFamily="49" charset="0"/>
              </a:rPr>
              <a:t> </a:t>
            </a:r>
          </a:p>
          <a:p>
            <a:pPr>
              <a:lnSpc>
                <a:spcPct val="150000"/>
              </a:lnSpc>
            </a:pPr>
            <a:r>
              <a:rPr lang="it-IT" sz="1200" b="0" i="0" dirty="0">
                <a:solidFill>
                  <a:srgbClr val="38BDF8"/>
                </a:solidFill>
                <a:effectLst/>
                <a:latin typeface="Fira Code" panose="020B0809050000020004" pitchFamily="49" charset="0"/>
              </a:rPr>
              <a:t>&lt;li&gt;</a:t>
            </a:r>
            <a:r>
              <a:rPr lang="it-IT" sz="1200" b="0" i="0" dirty="0">
                <a:solidFill>
                  <a:srgbClr val="E2E8F0"/>
                </a:solidFill>
                <a:effectLst/>
                <a:latin typeface="Fira Code" panose="020B0809050000020004" pitchFamily="49" charset="0"/>
              </a:rPr>
              <a:t>Apples</a:t>
            </a:r>
            <a:r>
              <a:rPr lang="it-IT" sz="1200" b="0" i="0" dirty="0">
                <a:solidFill>
                  <a:srgbClr val="38BDF8"/>
                </a:solidFill>
                <a:effectLst/>
                <a:latin typeface="Fira Code" panose="020B0809050000020004" pitchFamily="49" charset="0"/>
              </a:rPr>
              <a:t>&lt;/li&gt;</a:t>
            </a:r>
            <a:r>
              <a:rPr lang="it-IT" sz="1200" b="0" i="0" dirty="0">
                <a:solidFill>
                  <a:srgbClr val="E2E8F0"/>
                </a:solidFill>
                <a:effectLst/>
                <a:latin typeface="Fira Code" panose="020B0809050000020004" pitchFamily="49" charset="0"/>
              </a:rPr>
              <a:t> </a:t>
            </a:r>
          </a:p>
          <a:p>
            <a:pPr>
              <a:lnSpc>
                <a:spcPct val="150000"/>
              </a:lnSpc>
            </a:pPr>
            <a:r>
              <a:rPr lang="it-IT" sz="1200" b="0" i="0" dirty="0">
                <a:solidFill>
                  <a:srgbClr val="38BDF8"/>
                </a:solidFill>
                <a:effectLst/>
                <a:latin typeface="Fira Code" panose="020B0809050000020004" pitchFamily="49" charset="0"/>
              </a:rPr>
              <a:t>&lt;li&gt;</a:t>
            </a:r>
            <a:r>
              <a:rPr lang="it-IT" sz="1200" b="0" i="0" dirty="0">
                <a:solidFill>
                  <a:srgbClr val="E2E8F0"/>
                </a:solidFill>
                <a:effectLst/>
                <a:latin typeface="Fira Code" panose="020B0809050000020004" pitchFamily="49" charset="0"/>
              </a:rPr>
              <a:t>Bananas</a:t>
            </a:r>
            <a:r>
              <a:rPr lang="it-IT" sz="1200" b="0" i="0" dirty="0">
                <a:solidFill>
                  <a:srgbClr val="38BDF8"/>
                </a:solidFill>
                <a:effectLst/>
                <a:latin typeface="Fira Code" panose="020B0809050000020004" pitchFamily="49" charset="0"/>
              </a:rPr>
              <a:t>&lt;/li&gt;</a:t>
            </a:r>
            <a:r>
              <a:rPr lang="it-IT" sz="1200" b="0" i="0" dirty="0">
                <a:solidFill>
                  <a:srgbClr val="E2E8F0"/>
                </a:solidFill>
                <a:effectLst/>
                <a:latin typeface="Fira Code" panose="020B0809050000020004" pitchFamily="49" charset="0"/>
              </a:rPr>
              <a:t> </a:t>
            </a:r>
          </a:p>
          <a:p>
            <a:pPr>
              <a:lnSpc>
                <a:spcPct val="150000"/>
              </a:lnSpc>
            </a:pPr>
            <a:r>
              <a:rPr lang="it-IT" sz="1200" b="0" i="0" dirty="0">
                <a:solidFill>
                  <a:srgbClr val="38BDF8"/>
                </a:solidFill>
                <a:effectLst/>
                <a:latin typeface="Fira Code" panose="020B0809050000020004" pitchFamily="49" charset="0"/>
              </a:rPr>
              <a:t>&lt;/ul&gt;</a:t>
            </a:r>
            <a:endParaRPr lang="en-US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E7CCEB3-7D96-41EF-BD22-081CBB51F751}"/>
              </a:ext>
            </a:extLst>
          </p:cNvPr>
          <p:cNvSpPr txBox="1"/>
          <p:nvPr/>
        </p:nvSpPr>
        <p:spPr>
          <a:xfrm>
            <a:off x="4610026" y="4253979"/>
            <a:ext cx="2971948" cy="117403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it-IT" sz="1200" b="0" i="0" dirty="0">
                <a:solidFill>
                  <a:srgbClr val="38BDF8"/>
                </a:solidFill>
                <a:effectLst/>
                <a:latin typeface="Fira Code" panose="020B0809050000020004" pitchFamily="49" charset="0"/>
              </a:rPr>
              <a:t>&lt;ol&gt;</a:t>
            </a:r>
            <a:r>
              <a:rPr lang="it-IT" sz="1200" b="0" i="0" dirty="0">
                <a:solidFill>
                  <a:srgbClr val="E2E8F0"/>
                </a:solidFill>
                <a:effectLst/>
                <a:latin typeface="Fira Code" panose="020B0809050000020004" pitchFamily="49" charset="0"/>
              </a:rPr>
              <a:t> </a:t>
            </a:r>
          </a:p>
          <a:p>
            <a:pPr>
              <a:lnSpc>
                <a:spcPct val="150000"/>
              </a:lnSpc>
            </a:pPr>
            <a:r>
              <a:rPr lang="it-IT" sz="1200" b="0" i="0" dirty="0">
                <a:solidFill>
                  <a:srgbClr val="38BDF8"/>
                </a:solidFill>
                <a:effectLst/>
                <a:latin typeface="Fira Code" panose="020B0809050000020004" pitchFamily="49" charset="0"/>
              </a:rPr>
              <a:t>&lt;li&gt;</a:t>
            </a:r>
            <a:r>
              <a:rPr lang="it-IT" sz="1200" b="0" i="0" dirty="0">
                <a:solidFill>
                  <a:srgbClr val="E2E8F0"/>
                </a:solidFill>
                <a:effectLst/>
                <a:latin typeface="Fira Code" panose="020B0809050000020004" pitchFamily="49" charset="0"/>
              </a:rPr>
              <a:t>Preheat oven</a:t>
            </a:r>
            <a:r>
              <a:rPr lang="it-IT" sz="1200" b="0" i="0" dirty="0">
                <a:solidFill>
                  <a:srgbClr val="38BDF8"/>
                </a:solidFill>
                <a:effectLst/>
                <a:latin typeface="Fira Code" panose="020B0809050000020004" pitchFamily="49" charset="0"/>
              </a:rPr>
              <a:t>&lt;/li&gt;</a:t>
            </a:r>
            <a:r>
              <a:rPr lang="it-IT" sz="1200" b="0" i="0" dirty="0">
                <a:solidFill>
                  <a:srgbClr val="E2E8F0"/>
                </a:solidFill>
                <a:effectLst/>
                <a:latin typeface="Fira Code" panose="020B0809050000020004" pitchFamily="49" charset="0"/>
              </a:rPr>
              <a:t> </a:t>
            </a:r>
          </a:p>
          <a:p>
            <a:pPr>
              <a:lnSpc>
                <a:spcPct val="150000"/>
              </a:lnSpc>
            </a:pPr>
            <a:r>
              <a:rPr lang="it-IT" sz="1200" b="0" i="0" dirty="0">
                <a:solidFill>
                  <a:srgbClr val="38BDF8"/>
                </a:solidFill>
                <a:effectLst/>
                <a:latin typeface="Fira Code" panose="020B0809050000020004" pitchFamily="49" charset="0"/>
              </a:rPr>
              <a:t>&lt;li&gt;</a:t>
            </a:r>
            <a:r>
              <a:rPr lang="it-IT" sz="1200" b="0" i="0" dirty="0">
                <a:solidFill>
                  <a:srgbClr val="E2E8F0"/>
                </a:solidFill>
                <a:effectLst/>
                <a:latin typeface="Fira Code" panose="020B0809050000020004" pitchFamily="49" charset="0"/>
              </a:rPr>
              <a:t>Mix batter</a:t>
            </a:r>
            <a:r>
              <a:rPr lang="it-IT" sz="1200" b="0" i="0" dirty="0">
                <a:solidFill>
                  <a:srgbClr val="38BDF8"/>
                </a:solidFill>
                <a:effectLst/>
                <a:latin typeface="Fira Code" panose="020B0809050000020004" pitchFamily="49" charset="0"/>
              </a:rPr>
              <a:t>&lt;/li&gt;</a:t>
            </a:r>
          </a:p>
          <a:p>
            <a:pPr>
              <a:lnSpc>
                <a:spcPct val="150000"/>
              </a:lnSpc>
            </a:pPr>
            <a:r>
              <a:rPr lang="it-IT" sz="1200" b="0" i="0" dirty="0">
                <a:solidFill>
                  <a:srgbClr val="38BDF8"/>
                </a:solidFill>
                <a:effectLst/>
                <a:latin typeface="Fira Code" panose="020B0809050000020004" pitchFamily="49" charset="0"/>
              </a:rPr>
              <a:t>&lt;/ol&gt;</a:t>
            </a:r>
            <a:endParaRPr lang="en-US" sz="105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ECEC833-2982-4CF9-853F-0F823982FD12}"/>
              </a:ext>
            </a:extLst>
          </p:cNvPr>
          <p:cNvSpPr txBox="1"/>
          <p:nvPr/>
        </p:nvSpPr>
        <p:spPr>
          <a:xfrm>
            <a:off x="8388399" y="4240220"/>
            <a:ext cx="2971948" cy="117403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0" i="0" dirty="0">
                <a:solidFill>
                  <a:srgbClr val="38BDF8"/>
                </a:solidFill>
                <a:effectLst/>
                <a:latin typeface="Fira Code" panose="020B0809050000020004" pitchFamily="49" charset="0"/>
              </a:rPr>
              <a:t>&lt;dl&gt;</a:t>
            </a:r>
          </a:p>
          <a:p>
            <a:pPr>
              <a:lnSpc>
                <a:spcPct val="150000"/>
              </a:lnSpc>
            </a:pPr>
            <a:r>
              <a:rPr lang="en-US" sz="1200" b="0" i="0" dirty="0">
                <a:solidFill>
                  <a:srgbClr val="E2E8F0"/>
                </a:solidFill>
                <a:effectLst/>
                <a:latin typeface="Fira Code" panose="020B0809050000020004" pitchFamily="49" charset="0"/>
              </a:rPr>
              <a:t> </a:t>
            </a:r>
            <a:r>
              <a:rPr lang="en-US" sz="1200" b="0" i="0" dirty="0">
                <a:solidFill>
                  <a:srgbClr val="38BDF8"/>
                </a:solidFill>
                <a:effectLst/>
                <a:latin typeface="Fira Code" panose="020B0809050000020004" pitchFamily="49" charset="0"/>
              </a:rPr>
              <a:t>&lt;dt&gt;</a:t>
            </a:r>
            <a:r>
              <a:rPr lang="en-US" sz="1200" b="0" i="0" dirty="0">
                <a:solidFill>
                  <a:srgbClr val="E2E8F0"/>
                </a:solidFill>
                <a:effectLst/>
                <a:latin typeface="Fira Code" panose="020B0809050000020004" pitchFamily="49" charset="0"/>
              </a:rPr>
              <a:t>HTML</a:t>
            </a:r>
            <a:r>
              <a:rPr lang="en-US" sz="1200" b="0" i="0" dirty="0">
                <a:solidFill>
                  <a:srgbClr val="38BDF8"/>
                </a:solidFill>
                <a:effectLst/>
                <a:latin typeface="Fira Code" panose="020B0809050000020004" pitchFamily="49" charset="0"/>
              </a:rPr>
              <a:t>&lt;/dt&gt;</a:t>
            </a:r>
            <a:r>
              <a:rPr lang="en-US" sz="1200" b="0" i="0" dirty="0">
                <a:solidFill>
                  <a:srgbClr val="E2E8F0"/>
                </a:solidFill>
                <a:effectLst/>
                <a:latin typeface="Fira Code" panose="020B0809050000020004" pitchFamily="49" charset="0"/>
              </a:rPr>
              <a:t> </a:t>
            </a:r>
          </a:p>
          <a:p>
            <a:pPr>
              <a:lnSpc>
                <a:spcPct val="150000"/>
              </a:lnSpc>
            </a:pPr>
            <a:r>
              <a:rPr lang="en-US" sz="1200" b="0" i="0" dirty="0">
                <a:solidFill>
                  <a:srgbClr val="38BDF8"/>
                </a:solidFill>
                <a:effectLst/>
                <a:latin typeface="Fira Code" panose="020B0809050000020004" pitchFamily="49" charset="0"/>
              </a:rPr>
              <a:t>&lt;dd&gt;</a:t>
            </a:r>
            <a:r>
              <a:rPr lang="en-US" sz="1200" b="0" i="0" dirty="0">
                <a:solidFill>
                  <a:srgbClr val="E2E8F0"/>
                </a:solidFill>
                <a:effectLst/>
                <a:latin typeface="Fira Code" panose="020B0809050000020004" pitchFamily="49" charset="0"/>
              </a:rPr>
              <a:t>Markup language</a:t>
            </a:r>
            <a:r>
              <a:rPr lang="en-US" sz="1200" b="0" i="0" dirty="0">
                <a:solidFill>
                  <a:srgbClr val="38BDF8"/>
                </a:solidFill>
                <a:effectLst/>
                <a:latin typeface="Fira Code" panose="020B0809050000020004" pitchFamily="49" charset="0"/>
              </a:rPr>
              <a:t>&lt;/dd&gt;</a:t>
            </a:r>
            <a:r>
              <a:rPr lang="en-US" sz="1200" b="0" i="0" dirty="0">
                <a:solidFill>
                  <a:srgbClr val="E2E8F0"/>
                </a:solidFill>
                <a:effectLst/>
                <a:latin typeface="Fira Code" panose="020B0809050000020004" pitchFamily="49" charset="0"/>
              </a:rPr>
              <a:t> </a:t>
            </a:r>
          </a:p>
          <a:p>
            <a:pPr>
              <a:lnSpc>
                <a:spcPct val="150000"/>
              </a:lnSpc>
            </a:pPr>
            <a:r>
              <a:rPr lang="en-US" sz="1200" b="0" i="0" dirty="0">
                <a:solidFill>
                  <a:srgbClr val="38BDF8"/>
                </a:solidFill>
                <a:effectLst/>
                <a:latin typeface="Fira Code" panose="020B0809050000020004" pitchFamily="49" charset="0"/>
              </a:rPr>
              <a:t>&lt;/dl&gt;</a:t>
            </a:r>
            <a:endParaRPr lang="en-US" sz="105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DDDD21-5231-470C-92A0-0D99CB29218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Prepared By MD Yeakob Ali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5ADF43-F393-4C23-A093-C3CD67ADF50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55257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3"/>
          <p:cNvSpPr txBox="1"/>
          <p:nvPr/>
        </p:nvSpPr>
        <p:spPr>
          <a:xfrm>
            <a:off x="571500" y="1228725"/>
            <a:ext cx="5286375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anchor tag  defines a hyperlink, which is used to link from one page to another.</a:t>
            </a:r>
            <a:endParaRPr sz="1600"/>
          </a:p>
        </p:txBody>
      </p:sp>
      <p:sp>
        <p:nvSpPr>
          <p:cNvPr id="266" name="Google Shape;266;p23"/>
          <p:cNvSpPr txBox="1"/>
          <p:nvPr/>
        </p:nvSpPr>
        <p:spPr>
          <a:xfrm>
            <a:off x="552450" y="2081152"/>
            <a:ext cx="9525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00B0F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600">
              <a:solidFill>
                <a:srgbClr val="00B0F0"/>
              </a:solidFill>
            </a:endParaRPr>
          </a:p>
        </p:txBody>
      </p:sp>
      <p:sp>
        <p:nvSpPr>
          <p:cNvPr id="267" name="Google Shape;267;p23"/>
          <p:cNvSpPr txBox="1"/>
          <p:nvPr/>
        </p:nvSpPr>
        <p:spPr>
          <a:xfrm>
            <a:off x="809625" y="1986855"/>
            <a:ext cx="5048250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href attribute:</a:t>
            </a:r>
            <a:r>
              <a:rPr lang="en-US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Specifies the destination URL of the link. This is mandatory.</a:t>
            </a:r>
            <a:endParaRPr sz="1600"/>
          </a:p>
        </p:txBody>
      </p:sp>
      <p:sp>
        <p:nvSpPr>
          <p:cNvPr id="268" name="Google Shape;268;p23"/>
          <p:cNvSpPr txBox="1"/>
          <p:nvPr/>
        </p:nvSpPr>
        <p:spPr>
          <a:xfrm>
            <a:off x="552450" y="2801183"/>
            <a:ext cx="9525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00B0F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600">
              <a:solidFill>
                <a:srgbClr val="00B0F0"/>
              </a:solidFill>
            </a:endParaRPr>
          </a:p>
        </p:txBody>
      </p:sp>
      <p:sp>
        <p:nvSpPr>
          <p:cNvPr id="269" name="Google Shape;269;p23"/>
          <p:cNvSpPr txBox="1"/>
          <p:nvPr/>
        </p:nvSpPr>
        <p:spPr>
          <a:xfrm>
            <a:off x="809625" y="2706885"/>
            <a:ext cx="5048250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target attribute:</a:t>
            </a:r>
            <a:r>
              <a:rPr lang="en-US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Specifies where to open the linked document (e.g., _blank opens in a new tab).</a:t>
            </a:r>
            <a:endParaRPr sz="1600"/>
          </a:p>
        </p:txBody>
      </p:sp>
      <p:sp>
        <p:nvSpPr>
          <p:cNvPr id="270" name="Google Shape;270;p23"/>
          <p:cNvSpPr txBox="1"/>
          <p:nvPr/>
        </p:nvSpPr>
        <p:spPr>
          <a:xfrm>
            <a:off x="552450" y="3492638"/>
            <a:ext cx="9525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00B0F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600">
              <a:solidFill>
                <a:srgbClr val="00B0F0"/>
              </a:solidFill>
            </a:endParaRPr>
          </a:p>
        </p:txBody>
      </p:sp>
      <p:sp>
        <p:nvSpPr>
          <p:cNvPr id="271" name="Google Shape;271;p23"/>
          <p:cNvSpPr txBox="1"/>
          <p:nvPr/>
        </p:nvSpPr>
        <p:spPr>
          <a:xfrm>
            <a:off x="809625" y="3398341"/>
            <a:ext cx="5048250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Absolute URLs:</a:t>
            </a:r>
            <a:r>
              <a:rPr lang="en-US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Point to an external website (e.g., https://google.com).</a:t>
            </a:r>
            <a:endParaRPr sz="1600"/>
          </a:p>
        </p:txBody>
      </p:sp>
      <p:sp>
        <p:nvSpPr>
          <p:cNvPr id="272" name="Google Shape;272;p23"/>
          <p:cNvSpPr txBox="1"/>
          <p:nvPr/>
        </p:nvSpPr>
        <p:spPr>
          <a:xfrm>
            <a:off x="552450" y="4184094"/>
            <a:ext cx="9525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00B0F0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600">
              <a:solidFill>
                <a:srgbClr val="00B0F0"/>
              </a:solidFill>
            </a:endParaRPr>
          </a:p>
        </p:txBody>
      </p:sp>
      <p:sp>
        <p:nvSpPr>
          <p:cNvPr id="273" name="Google Shape;273;p23"/>
          <p:cNvSpPr txBox="1"/>
          <p:nvPr/>
        </p:nvSpPr>
        <p:spPr>
          <a:xfrm>
            <a:off x="809625" y="4089796"/>
            <a:ext cx="5048250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Relative URLs:</a:t>
            </a:r>
            <a:r>
              <a:rPr lang="en-US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Point to a file within your own website directory.</a:t>
            </a:r>
            <a:endParaRPr sz="1600"/>
          </a:p>
        </p:txBody>
      </p:sp>
      <p:pic>
        <p:nvPicPr>
          <p:cNvPr id="279" name="Google Shape;279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562100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3"/>
          <p:cNvSpPr txBox="1"/>
          <p:nvPr/>
        </p:nvSpPr>
        <p:spPr>
          <a:xfrm>
            <a:off x="571500" y="571500"/>
            <a:ext cx="116014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FF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Hyperlinks</a:t>
            </a:r>
            <a:r>
              <a:rPr lang="en-US" sz="3150" b="0" i="0" u="none" strike="noStrike" cap="none" dirty="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: Connecting the Web</a:t>
            </a:r>
            <a:endParaRPr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E4E277-092D-49D7-A41A-5801793C35AB}"/>
              </a:ext>
            </a:extLst>
          </p:cNvPr>
          <p:cNvSpPr txBox="1"/>
          <p:nvPr/>
        </p:nvSpPr>
        <p:spPr>
          <a:xfrm>
            <a:off x="752475" y="5043815"/>
            <a:ext cx="5105400" cy="70795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0" i="0" dirty="0">
                <a:solidFill>
                  <a:srgbClr val="38BDF8"/>
                </a:solidFill>
                <a:effectLst/>
                <a:latin typeface="Fira Code" panose="020B0809050000020004" pitchFamily="49" charset="0"/>
              </a:rPr>
              <a:t>&lt;a</a:t>
            </a:r>
            <a:r>
              <a:rPr lang="en-US" b="0" i="0" dirty="0">
                <a:solidFill>
                  <a:srgbClr val="E2E8F0"/>
                </a:solidFill>
                <a:effectLst/>
                <a:latin typeface="Fira Code" panose="020B0809050000020004" pitchFamily="49" charset="0"/>
              </a:rPr>
              <a:t> </a:t>
            </a:r>
            <a:r>
              <a:rPr lang="en-US" b="0" i="0" dirty="0" err="1">
                <a:solidFill>
                  <a:srgbClr val="A78BFA"/>
                </a:solidFill>
                <a:effectLst/>
                <a:latin typeface="Fira Code" panose="020B0809050000020004" pitchFamily="49" charset="0"/>
              </a:rPr>
              <a:t>href</a:t>
            </a:r>
            <a:r>
              <a:rPr lang="en-US" b="0" i="0" dirty="0">
                <a:solidFill>
                  <a:srgbClr val="A78BFA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b="0" i="0" dirty="0">
                <a:solidFill>
                  <a:srgbClr val="A3E635"/>
                </a:solidFill>
                <a:effectLst/>
                <a:latin typeface="Fira Code" panose="020B0809050000020004" pitchFamily="49" charset="0"/>
              </a:rPr>
              <a:t>"https://example.com"</a:t>
            </a:r>
            <a:r>
              <a:rPr lang="en-US" b="0" i="0" dirty="0">
                <a:solidFill>
                  <a:srgbClr val="E2E8F0"/>
                </a:solidFill>
                <a:effectLst/>
                <a:latin typeface="Fira Code" panose="020B0809050000020004" pitchFamily="49" charset="0"/>
              </a:rPr>
              <a:t> </a:t>
            </a:r>
            <a:r>
              <a:rPr lang="en-US" b="0" i="0" dirty="0">
                <a:solidFill>
                  <a:srgbClr val="A78BFA"/>
                </a:solidFill>
                <a:effectLst/>
                <a:latin typeface="Fira Code" panose="020B0809050000020004" pitchFamily="49" charset="0"/>
              </a:rPr>
              <a:t>target=</a:t>
            </a:r>
            <a:r>
              <a:rPr lang="en-US" b="0" i="0" dirty="0">
                <a:solidFill>
                  <a:srgbClr val="A3E635"/>
                </a:solidFill>
                <a:effectLst/>
                <a:latin typeface="Fira Code" panose="020B0809050000020004" pitchFamily="49" charset="0"/>
              </a:rPr>
              <a:t>"_blank"</a:t>
            </a:r>
            <a:r>
              <a:rPr lang="en-US" b="0" i="0" dirty="0">
                <a:solidFill>
                  <a:srgbClr val="38BDF8"/>
                </a:solidFill>
                <a:effectLst/>
                <a:latin typeface="Fira Code" panose="020B0809050000020004" pitchFamily="49" charset="0"/>
              </a:rPr>
              <a:t>&gt;</a:t>
            </a:r>
            <a:r>
              <a:rPr lang="en-US" b="0" i="0" dirty="0">
                <a:solidFill>
                  <a:srgbClr val="E2E8F0"/>
                </a:solidFill>
                <a:effectLst/>
                <a:latin typeface="Fira Code" panose="020B0809050000020004" pitchFamily="49" charset="0"/>
              </a:rPr>
              <a:t> Visit Example </a:t>
            </a:r>
            <a:r>
              <a:rPr lang="en-US" b="0" i="0" dirty="0">
                <a:solidFill>
                  <a:srgbClr val="38BDF8"/>
                </a:solidFill>
                <a:effectLst/>
                <a:latin typeface="Fira Code" panose="020B0809050000020004" pitchFamily="49" charset="0"/>
              </a:rPr>
              <a:t>&lt;/a&gt;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FFC57B-6AB6-4EBE-8505-8F6C1B23F85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Prepared By MD Yeakob Ali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6AB7C2-6074-444A-80DA-2DC1CAD558F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4"/>
          <p:cNvSpPr txBox="1"/>
          <p:nvPr/>
        </p:nvSpPr>
        <p:spPr>
          <a:xfrm>
            <a:off x="3881437" y="3133534"/>
            <a:ext cx="4429125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Embedding </a:t>
            </a:r>
            <a:r>
              <a:rPr lang="en-US" sz="2400" b="1" i="0" u="none" strike="noStrike" cap="none" dirty="0">
                <a:solidFill>
                  <a:srgbClr val="FF0000"/>
                </a:solidFill>
                <a:latin typeface="Inter"/>
                <a:ea typeface="Inter"/>
                <a:cs typeface="Inter"/>
                <a:sym typeface="Inter"/>
              </a:rPr>
              <a:t>Media</a:t>
            </a:r>
            <a:r>
              <a:rPr lang="en-US" sz="240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in HTML</a:t>
            </a:r>
            <a:endParaRPr sz="1800" b="1" dirty="0"/>
          </a:p>
        </p:txBody>
      </p:sp>
      <p:sp>
        <p:nvSpPr>
          <p:cNvPr id="288" name="Google Shape;288;p24"/>
          <p:cNvSpPr/>
          <p:nvPr/>
        </p:nvSpPr>
        <p:spPr>
          <a:xfrm>
            <a:off x="5381625" y="3845123"/>
            <a:ext cx="142875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1FB0802-C10A-4984-813A-0DF8FFCC914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Prepared By MD Yeakob Ali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3EC6BC-9111-476B-B20A-DC2EF077903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55257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5"/>
          <p:cNvSpPr txBox="1"/>
          <p:nvPr/>
        </p:nvSpPr>
        <p:spPr>
          <a:xfrm>
            <a:off x="571500" y="1381125"/>
            <a:ext cx="5286375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Images are embedded using the self-closing  tag. It requires two crucial attributes:</a:t>
            </a:r>
            <a:endParaRPr sz="1800"/>
          </a:p>
        </p:txBody>
      </p:sp>
      <p:sp>
        <p:nvSpPr>
          <p:cNvPr id="297" name="Google Shape;297;p25"/>
          <p:cNvSpPr txBox="1"/>
          <p:nvPr/>
        </p:nvSpPr>
        <p:spPr>
          <a:xfrm>
            <a:off x="571500" y="4246066"/>
            <a:ext cx="5286375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You can also use width and height attributes to reserve space for the image.</a:t>
            </a:r>
            <a:endParaRPr sz="1800"/>
          </a:p>
        </p:txBody>
      </p:sp>
      <p:sp>
        <p:nvSpPr>
          <p:cNvPr id="298" name="Google Shape;298;p25"/>
          <p:cNvSpPr txBox="1"/>
          <p:nvPr/>
        </p:nvSpPr>
        <p:spPr>
          <a:xfrm>
            <a:off x="647700" y="2262127"/>
            <a:ext cx="9525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800"/>
          </a:p>
        </p:txBody>
      </p:sp>
      <p:sp>
        <p:nvSpPr>
          <p:cNvPr id="299" name="Google Shape;299;p25"/>
          <p:cNvSpPr txBox="1"/>
          <p:nvPr/>
        </p:nvSpPr>
        <p:spPr>
          <a:xfrm>
            <a:off x="809625" y="2186880"/>
            <a:ext cx="5048250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src (Source):</a:t>
            </a:r>
            <a:r>
              <a:rPr lang="en-US" sz="16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Contains the path or URL to the image file.</a:t>
            </a:r>
            <a:endParaRPr sz="1800"/>
          </a:p>
        </p:txBody>
      </p:sp>
      <p:sp>
        <p:nvSpPr>
          <p:cNvPr id="300" name="Google Shape;300;p25"/>
          <p:cNvSpPr txBox="1"/>
          <p:nvPr/>
        </p:nvSpPr>
        <p:spPr>
          <a:xfrm>
            <a:off x="647700" y="3165068"/>
            <a:ext cx="9525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800"/>
          </a:p>
        </p:txBody>
      </p:sp>
      <p:sp>
        <p:nvSpPr>
          <p:cNvPr id="301" name="Google Shape;301;p25"/>
          <p:cNvSpPr txBox="1"/>
          <p:nvPr/>
        </p:nvSpPr>
        <p:spPr>
          <a:xfrm>
            <a:off x="809625" y="3089820"/>
            <a:ext cx="5048250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alt (Alternative Text):</a:t>
            </a:r>
            <a:r>
              <a:rPr lang="en-US" sz="16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Provides a text description of the image. Crucial for screen readers (accessibility) and if the image fails to load.</a:t>
            </a:r>
            <a:endParaRPr sz="1800"/>
          </a:p>
        </p:txBody>
      </p:sp>
      <p:pic>
        <p:nvPicPr>
          <p:cNvPr id="309" name="Google Shape;309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562100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5"/>
          <p:cNvSpPr txBox="1"/>
          <p:nvPr/>
        </p:nvSpPr>
        <p:spPr>
          <a:xfrm>
            <a:off x="571500" y="723900"/>
            <a:ext cx="116014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Adding </a:t>
            </a:r>
            <a:r>
              <a:rPr lang="en-US" sz="3150" b="0" i="0" u="none" strike="noStrike" cap="none" dirty="0">
                <a:solidFill>
                  <a:srgbClr val="FF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Images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B044818-5FB9-4D0F-8844-2258FF55CD4F}"/>
              </a:ext>
            </a:extLst>
          </p:cNvPr>
          <p:cNvSpPr txBox="1"/>
          <p:nvPr/>
        </p:nvSpPr>
        <p:spPr>
          <a:xfrm>
            <a:off x="457199" y="5404033"/>
            <a:ext cx="7686676" cy="102188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b="0" i="0" dirty="0">
              <a:solidFill>
                <a:srgbClr val="38BDF8"/>
              </a:solidFill>
              <a:effectLst/>
              <a:latin typeface="Fira Code" panose="020B0809050000020004" pitchFamily="49" charset="0"/>
            </a:endParaRPr>
          </a:p>
          <a:p>
            <a:pPr>
              <a:lnSpc>
                <a:spcPct val="150000"/>
              </a:lnSpc>
            </a:pPr>
            <a:r>
              <a:rPr lang="en-US" b="0" i="0" dirty="0">
                <a:solidFill>
                  <a:srgbClr val="38BDF8"/>
                </a:solidFill>
                <a:effectLst/>
                <a:latin typeface="Fira Code" panose="020B0809050000020004" pitchFamily="49" charset="0"/>
              </a:rPr>
              <a:t>    &lt;</a:t>
            </a:r>
            <a:r>
              <a:rPr lang="en-US" b="0" i="0" dirty="0" err="1">
                <a:solidFill>
                  <a:srgbClr val="38BDF8"/>
                </a:solidFill>
                <a:effectLst/>
                <a:latin typeface="Fira Code" panose="020B0809050000020004" pitchFamily="49" charset="0"/>
              </a:rPr>
              <a:t>img</a:t>
            </a:r>
            <a:r>
              <a:rPr lang="en-US" b="0" i="0" dirty="0">
                <a:solidFill>
                  <a:srgbClr val="E2E8F0"/>
                </a:solidFill>
                <a:effectLst/>
                <a:latin typeface="Fira Code" panose="020B0809050000020004" pitchFamily="49" charset="0"/>
              </a:rPr>
              <a:t> </a:t>
            </a:r>
            <a:r>
              <a:rPr lang="en-US" b="0" i="0" dirty="0" err="1">
                <a:solidFill>
                  <a:srgbClr val="A78BFA"/>
                </a:solidFill>
                <a:effectLst/>
                <a:latin typeface="Fira Code" panose="020B0809050000020004" pitchFamily="49" charset="0"/>
              </a:rPr>
              <a:t>src</a:t>
            </a:r>
            <a:r>
              <a:rPr lang="en-US" b="0" i="0" dirty="0">
                <a:solidFill>
                  <a:srgbClr val="A78BFA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b="0" i="0" dirty="0">
                <a:solidFill>
                  <a:srgbClr val="A3E635"/>
                </a:solidFill>
                <a:effectLst/>
                <a:latin typeface="Fira Code" panose="020B0809050000020004" pitchFamily="49" charset="0"/>
              </a:rPr>
              <a:t>"images/logo.png"</a:t>
            </a:r>
            <a:r>
              <a:rPr lang="en-US" b="0" i="0" dirty="0">
                <a:solidFill>
                  <a:srgbClr val="E2E8F0"/>
                </a:solidFill>
                <a:effectLst/>
                <a:latin typeface="Fira Code" panose="020B0809050000020004" pitchFamily="49" charset="0"/>
              </a:rPr>
              <a:t> </a:t>
            </a:r>
            <a:r>
              <a:rPr lang="en-US" b="0" i="0" dirty="0">
                <a:solidFill>
                  <a:srgbClr val="A78BFA"/>
                </a:solidFill>
                <a:effectLst/>
                <a:latin typeface="Fira Code" panose="020B0809050000020004" pitchFamily="49" charset="0"/>
              </a:rPr>
              <a:t>alt=</a:t>
            </a:r>
            <a:r>
              <a:rPr lang="en-US" b="0" i="0" dirty="0">
                <a:solidFill>
                  <a:srgbClr val="A3E635"/>
                </a:solidFill>
                <a:effectLst/>
                <a:latin typeface="Fira Code" panose="020B0809050000020004" pitchFamily="49" charset="0"/>
              </a:rPr>
              <a:t>"Company Logo"</a:t>
            </a:r>
            <a:r>
              <a:rPr lang="en-US" b="0" i="0" dirty="0">
                <a:solidFill>
                  <a:srgbClr val="E2E8F0"/>
                </a:solidFill>
                <a:effectLst/>
                <a:latin typeface="Fira Code" panose="020B0809050000020004" pitchFamily="49" charset="0"/>
              </a:rPr>
              <a:t> </a:t>
            </a:r>
            <a:r>
              <a:rPr lang="en-US" b="0" i="0" dirty="0">
                <a:solidFill>
                  <a:srgbClr val="A78BFA"/>
                </a:solidFill>
                <a:effectLst/>
                <a:latin typeface="Fira Code" panose="020B0809050000020004" pitchFamily="49" charset="0"/>
              </a:rPr>
              <a:t>width=</a:t>
            </a:r>
            <a:r>
              <a:rPr lang="en-US" b="0" i="0" dirty="0">
                <a:solidFill>
                  <a:srgbClr val="A3E635"/>
                </a:solidFill>
                <a:effectLst/>
                <a:latin typeface="Fira Code" panose="020B0809050000020004" pitchFamily="49" charset="0"/>
              </a:rPr>
              <a:t>"200"</a:t>
            </a:r>
            <a:r>
              <a:rPr lang="en-US" b="0" i="0" dirty="0">
                <a:solidFill>
                  <a:srgbClr val="E2E8F0"/>
                </a:solidFill>
                <a:effectLst/>
                <a:latin typeface="Fira Code" panose="020B0809050000020004" pitchFamily="49" charset="0"/>
              </a:rPr>
              <a:t> </a:t>
            </a:r>
            <a:r>
              <a:rPr lang="en-US" b="0" i="0" dirty="0">
                <a:solidFill>
                  <a:srgbClr val="38BDF8"/>
                </a:solidFill>
                <a:effectLst/>
                <a:latin typeface="Fira Code" panose="020B0809050000020004" pitchFamily="49" charset="0"/>
              </a:rPr>
              <a:t>&gt;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FFD4CD-61B5-4F02-9B44-5AAAAB5577B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Prepared By MD Yeakob Ali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A639DD-4B90-4B08-8061-FEDAC33F1E5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Google Shape;315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52575"/>
            <a:ext cx="5286375" cy="40051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552575"/>
            <a:ext cx="5286375" cy="4005113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6"/>
          <p:cNvSpPr txBox="1"/>
          <p:nvPr/>
        </p:nvSpPr>
        <p:spPr>
          <a:xfrm>
            <a:off x="962025" y="1943100"/>
            <a:ext cx="4730591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Embedding Audio</a:t>
            </a:r>
            <a:endParaRPr/>
          </a:p>
        </p:txBody>
      </p:sp>
      <p:sp>
        <p:nvSpPr>
          <p:cNvPr id="321" name="Google Shape;321;p26"/>
          <p:cNvSpPr/>
          <p:nvPr/>
        </p:nvSpPr>
        <p:spPr>
          <a:xfrm>
            <a:off x="962025" y="2486025"/>
            <a:ext cx="450532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6"/>
          <p:cNvSpPr txBox="1"/>
          <p:nvPr/>
        </p:nvSpPr>
        <p:spPr>
          <a:xfrm>
            <a:off x="962025" y="2695575"/>
            <a:ext cx="4505325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 element embeds sound content. The controls attribute adds play, pause, and volume controls.</a:t>
            </a:r>
            <a:endParaRPr sz="1600"/>
          </a:p>
        </p:txBody>
      </p:sp>
      <p:sp>
        <p:nvSpPr>
          <p:cNvPr id="323" name="Google Shape;323;p26"/>
          <p:cNvSpPr txBox="1"/>
          <p:nvPr/>
        </p:nvSpPr>
        <p:spPr>
          <a:xfrm>
            <a:off x="962025" y="4872930"/>
            <a:ext cx="4505325" cy="270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Supported formats: MP3, WAV, OGG.</a:t>
            </a:r>
            <a:endParaRPr sz="1600" dirty="0"/>
          </a:p>
        </p:txBody>
      </p:sp>
      <p:sp>
        <p:nvSpPr>
          <p:cNvPr id="324" name="Google Shape;324;p26"/>
          <p:cNvSpPr txBox="1"/>
          <p:nvPr/>
        </p:nvSpPr>
        <p:spPr>
          <a:xfrm>
            <a:off x="6724650" y="1943100"/>
            <a:ext cx="4730591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Embedding Video</a:t>
            </a:r>
            <a:endParaRPr/>
          </a:p>
        </p:txBody>
      </p:sp>
      <p:sp>
        <p:nvSpPr>
          <p:cNvPr id="325" name="Google Shape;325;p26"/>
          <p:cNvSpPr/>
          <p:nvPr/>
        </p:nvSpPr>
        <p:spPr>
          <a:xfrm>
            <a:off x="6724650" y="2486025"/>
            <a:ext cx="450532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6"/>
          <p:cNvSpPr txBox="1"/>
          <p:nvPr/>
        </p:nvSpPr>
        <p:spPr>
          <a:xfrm>
            <a:off x="6724650" y="2695575"/>
            <a:ext cx="4505325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 element embeds video. You can set width, height, and provide multiple sources.</a:t>
            </a:r>
            <a:endParaRPr sz="1600"/>
          </a:p>
        </p:txBody>
      </p:sp>
      <p:sp>
        <p:nvSpPr>
          <p:cNvPr id="327" name="Google Shape;327;p26"/>
          <p:cNvSpPr txBox="1"/>
          <p:nvPr/>
        </p:nvSpPr>
        <p:spPr>
          <a:xfrm>
            <a:off x="6724650" y="4811017"/>
            <a:ext cx="4505325" cy="270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Supported formats: MP4, WebM, OGG.</a:t>
            </a:r>
            <a:endParaRPr sz="1600"/>
          </a:p>
        </p:txBody>
      </p:sp>
      <p:sp>
        <p:nvSpPr>
          <p:cNvPr id="344" name="Google Shape;344;p26"/>
          <p:cNvSpPr txBox="1"/>
          <p:nvPr/>
        </p:nvSpPr>
        <p:spPr>
          <a:xfrm>
            <a:off x="295275" y="591999"/>
            <a:ext cx="116014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HTML5 </a:t>
            </a:r>
            <a:r>
              <a:rPr lang="en-US" sz="3150" b="0" i="0" u="none" strike="noStrike" cap="none" dirty="0">
                <a:solidFill>
                  <a:srgbClr val="FF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Audio and Video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2A25FCC-1670-4B5E-A254-8CC7895246F0}"/>
              </a:ext>
            </a:extLst>
          </p:cNvPr>
          <p:cNvSpPr txBox="1"/>
          <p:nvPr/>
        </p:nvSpPr>
        <p:spPr>
          <a:xfrm>
            <a:off x="962025" y="3415455"/>
            <a:ext cx="4343400" cy="144315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sz="1200" b="0" i="0" dirty="0">
              <a:solidFill>
                <a:srgbClr val="38BDF8"/>
              </a:solidFill>
              <a:effectLst/>
              <a:latin typeface="Fira Code" panose="020B08090500000200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200" b="0" i="0" dirty="0">
                <a:solidFill>
                  <a:srgbClr val="38BDF8"/>
                </a:solidFill>
                <a:effectLst/>
                <a:latin typeface="Fira Code" panose="020B0809050000020004" pitchFamily="49" charset="0"/>
              </a:rPr>
              <a:t>&lt;audio</a:t>
            </a:r>
            <a:r>
              <a:rPr lang="en-US" sz="1200" b="0" i="0" dirty="0">
                <a:solidFill>
                  <a:srgbClr val="E2E8F0"/>
                </a:solidFill>
                <a:effectLst/>
                <a:latin typeface="Fira Code" panose="020B0809050000020004" pitchFamily="49" charset="0"/>
              </a:rPr>
              <a:t> </a:t>
            </a:r>
            <a:r>
              <a:rPr lang="en-US" sz="1200" b="0" i="0" dirty="0">
                <a:solidFill>
                  <a:srgbClr val="A78BFA"/>
                </a:solidFill>
                <a:effectLst/>
                <a:latin typeface="Fira Code" panose="020B0809050000020004" pitchFamily="49" charset="0"/>
              </a:rPr>
              <a:t>controls</a:t>
            </a:r>
            <a:r>
              <a:rPr lang="en-US" sz="1200" b="0" i="0" dirty="0">
                <a:solidFill>
                  <a:srgbClr val="38BDF8"/>
                </a:solidFill>
                <a:effectLst/>
                <a:latin typeface="Fira Code" panose="020B0809050000020004" pitchFamily="49" charset="0"/>
              </a:rPr>
              <a:t>&gt;</a:t>
            </a:r>
            <a:r>
              <a:rPr lang="en-US" sz="1200" b="0" i="0" dirty="0">
                <a:solidFill>
                  <a:srgbClr val="E2E8F0"/>
                </a:solidFill>
                <a:effectLst/>
                <a:latin typeface="Fira Code" panose="020B0809050000020004" pitchFamily="49" charset="0"/>
              </a:rPr>
              <a:t> </a:t>
            </a:r>
            <a:r>
              <a:rPr lang="en-US" sz="1200" b="0" i="0" dirty="0">
                <a:solidFill>
                  <a:srgbClr val="38BDF8"/>
                </a:solidFill>
                <a:effectLst/>
                <a:latin typeface="Fira Code" panose="020B0809050000020004" pitchFamily="49" charset="0"/>
              </a:rPr>
              <a:t>&lt;source</a:t>
            </a:r>
            <a:r>
              <a:rPr lang="en-US" sz="1200" b="0" i="0" dirty="0">
                <a:solidFill>
                  <a:srgbClr val="E2E8F0"/>
                </a:solidFill>
                <a:effectLst/>
                <a:latin typeface="Fira Code" panose="020B0809050000020004" pitchFamily="49" charset="0"/>
              </a:rPr>
              <a:t> </a:t>
            </a:r>
            <a:r>
              <a:rPr lang="en-US" sz="1200" b="0" i="0" dirty="0" err="1">
                <a:solidFill>
                  <a:srgbClr val="A78BFA"/>
                </a:solidFill>
                <a:effectLst/>
                <a:latin typeface="Fira Code" panose="020B0809050000020004" pitchFamily="49" charset="0"/>
              </a:rPr>
              <a:t>src</a:t>
            </a:r>
            <a:r>
              <a:rPr lang="en-US" sz="1200" b="0" i="0" dirty="0">
                <a:solidFill>
                  <a:srgbClr val="A78BFA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sz="1200" b="0" i="0" dirty="0">
                <a:solidFill>
                  <a:srgbClr val="A3E635"/>
                </a:solidFill>
                <a:effectLst/>
                <a:latin typeface="Fira Code" panose="020B0809050000020004" pitchFamily="49" charset="0"/>
              </a:rPr>
              <a:t>"music.mp3"</a:t>
            </a:r>
            <a:r>
              <a:rPr lang="en-US" sz="1200" b="0" i="0" dirty="0">
                <a:solidFill>
                  <a:srgbClr val="E2E8F0"/>
                </a:solidFill>
                <a:effectLst/>
                <a:latin typeface="Fira Code" panose="020B0809050000020004" pitchFamily="49" charset="0"/>
              </a:rPr>
              <a:t> </a:t>
            </a:r>
            <a:r>
              <a:rPr lang="en-US" sz="1200" b="0" i="0" dirty="0">
                <a:solidFill>
                  <a:srgbClr val="A78BFA"/>
                </a:solidFill>
                <a:effectLst/>
                <a:latin typeface="Fira Code" panose="020B0809050000020004" pitchFamily="49" charset="0"/>
              </a:rPr>
              <a:t>type=</a:t>
            </a:r>
            <a:r>
              <a:rPr lang="en-US" sz="1200" b="0" i="0" dirty="0">
                <a:solidFill>
                  <a:srgbClr val="A3E635"/>
                </a:solidFill>
                <a:effectLst/>
                <a:latin typeface="Fira Code" panose="020B0809050000020004" pitchFamily="49" charset="0"/>
              </a:rPr>
              <a:t>"audio/mpeg"</a:t>
            </a:r>
            <a:r>
              <a:rPr lang="en-US" sz="1200" b="0" i="0" dirty="0">
                <a:solidFill>
                  <a:srgbClr val="38BDF8"/>
                </a:solidFill>
                <a:effectLst/>
                <a:latin typeface="Fira Code" panose="020B0809050000020004" pitchFamily="49" charset="0"/>
              </a:rPr>
              <a:t>&gt;</a:t>
            </a:r>
            <a:r>
              <a:rPr lang="en-US" sz="1200" b="0" i="0" dirty="0">
                <a:solidFill>
                  <a:srgbClr val="E2E8F0"/>
                </a:solidFill>
                <a:effectLst/>
                <a:latin typeface="Fira Code" panose="020B0809050000020004" pitchFamily="49" charset="0"/>
              </a:rPr>
              <a:t> Your browser does not support audio. </a:t>
            </a:r>
            <a:r>
              <a:rPr lang="en-US" sz="1200" b="0" i="0" dirty="0">
                <a:solidFill>
                  <a:srgbClr val="38BDF8"/>
                </a:solidFill>
                <a:effectLst/>
                <a:latin typeface="Fira Code" panose="020B0809050000020004" pitchFamily="49" charset="0"/>
              </a:rPr>
              <a:t>&lt;/audio&gt;</a:t>
            </a:r>
          </a:p>
          <a:p>
            <a:pPr>
              <a:lnSpc>
                <a:spcPct val="150000"/>
              </a:lnSpc>
            </a:pPr>
            <a:endParaRPr lang="en-US" sz="12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3377D3-8184-474A-A8CD-EA20EE53C73D}"/>
              </a:ext>
            </a:extLst>
          </p:cNvPr>
          <p:cNvSpPr txBox="1"/>
          <p:nvPr/>
        </p:nvSpPr>
        <p:spPr>
          <a:xfrm>
            <a:off x="6705600" y="3598041"/>
            <a:ext cx="4619625" cy="89704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0" i="0" dirty="0">
                <a:solidFill>
                  <a:srgbClr val="38BDF8"/>
                </a:solidFill>
                <a:effectLst/>
                <a:latin typeface="Fira Code" panose="020B0809050000020004" pitchFamily="49" charset="0"/>
              </a:rPr>
              <a:t>&lt;video</a:t>
            </a:r>
            <a:r>
              <a:rPr lang="en-US" sz="1200" b="0" i="0" dirty="0">
                <a:solidFill>
                  <a:srgbClr val="E2E8F0"/>
                </a:solidFill>
                <a:effectLst/>
                <a:latin typeface="Fira Code" panose="020B0809050000020004" pitchFamily="49" charset="0"/>
              </a:rPr>
              <a:t> </a:t>
            </a:r>
            <a:r>
              <a:rPr lang="en-US" sz="1200" b="0" i="0" dirty="0">
                <a:solidFill>
                  <a:srgbClr val="A78BFA"/>
                </a:solidFill>
                <a:effectLst/>
                <a:latin typeface="Fira Code" panose="020B0809050000020004" pitchFamily="49" charset="0"/>
              </a:rPr>
              <a:t>width=</a:t>
            </a:r>
            <a:r>
              <a:rPr lang="en-US" sz="1200" b="0" i="0" dirty="0">
                <a:solidFill>
                  <a:srgbClr val="A3E635"/>
                </a:solidFill>
                <a:effectLst/>
                <a:latin typeface="Fira Code" panose="020B0809050000020004" pitchFamily="49" charset="0"/>
              </a:rPr>
              <a:t>"320"</a:t>
            </a:r>
            <a:r>
              <a:rPr lang="en-US" sz="1200" b="0" i="0" dirty="0">
                <a:solidFill>
                  <a:srgbClr val="E2E8F0"/>
                </a:solidFill>
                <a:effectLst/>
                <a:latin typeface="Fira Code" panose="020B0809050000020004" pitchFamily="49" charset="0"/>
              </a:rPr>
              <a:t> </a:t>
            </a:r>
            <a:r>
              <a:rPr lang="en-US" sz="1200" b="0" i="0" dirty="0">
                <a:solidFill>
                  <a:srgbClr val="A78BFA"/>
                </a:solidFill>
                <a:effectLst/>
                <a:latin typeface="Fira Code" panose="020B0809050000020004" pitchFamily="49" charset="0"/>
              </a:rPr>
              <a:t>controls</a:t>
            </a:r>
            <a:r>
              <a:rPr lang="en-US" sz="1200" b="0" i="0" dirty="0">
                <a:solidFill>
                  <a:srgbClr val="38BDF8"/>
                </a:solidFill>
                <a:effectLst/>
                <a:latin typeface="Fira Code" panose="020B0809050000020004" pitchFamily="49" charset="0"/>
              </a:rPr>
              <a:t>&gt;</a:t>
            </a:r>
            <a:r>
              <a:rPr lang="en-US" sz="1200" b="0" i="0" dirty="0">
                <a:solidFill>
                  <a:srgbClr val="E2E8F0"/>
                </a:solidFill>
                <a:effectLst/>
                <a:latin typeface="Fira Code" panose="020B0809050000020004" pitchFamily="49" charset="0"/>
              </a:rPr>
              <a:t> </a:t>
            </a:r>
            <a:r>
              <a:rPr lang="en-US" sz="1200" b="0" i="0" dirty="0">
                <a:solidFill>
                  <a:srgbClr val="38BDF8"/>
                </a:solidFill>
                <a:effectLst/>
                <a:latin typeface="Fira Code" panose="020B0809050000020004" pitchFamily="49" charset="0"/>
              </a:rPr>
              <a:t>&lt;source</a:t>
            </a:r>
            <a:r>
              <a:rPr lang="en-US" sz="1200" b="0" i="0" dirty="0">
                <a:solidFill>
                  <a:srgbClr val="E2E8F0"/>
                </a:solidFill>
                <a:effectLst/>
                <a:latin typeface="Fira Code" panose="020B0809050000020004" pitchFamily="49" charset="0"/>
              </a:rPr>
              <a:t> </a:t>
            </a:r>
            <a:r>
              <a:rPr lang="en-US" sz="1200" b="0" i="0" dirty="0" err="1">
                <a:solidFill>
                  <a:srgbClr val="A78BFA"/>
                </a:solidFill>
                <a:effectLst/>
                <a:latin typeface="Fira Code" panose="020B0809050000020004" pitchFamily="49" charset="0"/>
              </a:rPr>
              <a:t>src</a:t>
            </a:r>
            <a:r>
              <a:rPr lang="en-US" sz="1200" b="0" i="0" dirty="0">
                <a:solidFill>
                  <a:srgbClr val="A78BFA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sz="1200" b="0" i="0" dirty="0">
                <a:solidFill>
                  <a:srgbClr val="A3E635"/>
                </a:solidFill>
                <a:effectLst/>
                <a:latin typeface="Fira Code" panose="020B0809050000020004" pitchFamily="49" charset="0"/>
              </a:rPr>
              <a:t>"movie.mp4"</a:t>
            </a:r>
            <a:r>
              <a:rPr lang="en-US" sz="1200" b="0" i="0" dirty="0">
                <a:solidFill>
                  <a:srgbClr val="E2E8F0"/>
                </a:solidFill>
                <a:effectLst/>
                <a:latin typeface="Fira Code" panose="020B0809050000020004" pitchFamily="49" charset="0"/>
              </a:rPr>
              <a:t> </a:t>
            </a:r>
            <a:r>
              <a:rPr lang="en-US" sz="1200" b="0" i="0" dirty="0">
                <a:solidFill>
                  <a:srgbClr val="A78BFA"/>
                </a:solidFill>
                <a:effectLst/>
                <a:latin typeface="Fira Code" panose="020B0809050000020004" pitchFamily="49" charset="0"/>
              </a:rPr>
              <a:t>type=</a:t>
            </a:r>
            <a:r>
              <a:rPr lang="en-US" sz="1200" b="0" i="0" dirty="0">
                <a:solidFill>
                  <a:srgbClr val="A3E635"/>
                </a:solidFill>
                <a:effectLst/>
                <a:latin typeface="Fira Code" panose="020B0809050000020004" pitchFamily="49" charset="0"/>
              </a:rPr>
              <a:t>"video/mp4"</a:t>
            </a:r>
            <a:r>
              <a:rPr lang="en-US" sz="1200" b="0" i="0" dirty="0">
                <a:solidFill>
                  <a:srgbClr val="38BDF8"/>
                </a:solidFill>
                <a:effectLst/>
                <a:latin typeface="Fira Code" panose="020B0809050000020004" pitchFamily="49" charset="0"/>
              </a:rPr>
              <a:t>&gt;</a:t>
            </a:r>
            <a:r>
              <a:rPr lang="en-US" sz="1200" b="0" i="0" dirty="0">
                <a:solidFill>
                  <a:srgbClr val="E2E8F0"/>
                </a:solidFill>
                <a:effectLst/>
                <a:latin typeface="Fira Code" panose="020B0809050000020004" pitchFamily="49" charset="0"/>
              </a:rPr>
              <a:t> Your browser does not support video. </a:t>
            </a:r>
            <a:r>
              <a:rPr lang="en-US" sz="1200" b="0" i="0" dirty="0">
                <a:solidFill>
                  <a:srgbClr val="38BDF8"/>
                </a:solidFill>
                <a:effectLst/>
                <a:latin typeface="Fira Code" panose="020B0809050000020004" pitchFamily="49" charset="0"/>
              </a:rPr>
              <a:t>&lt;/video&gt;</a:t>
            </a:r>
            <a:endParaRPr lang="en-US" sz="12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558D2A-86D5-4B33-88F8-1596A9A782C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Prepared By MD Yeakob Ali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47CA89-7E32-4866-9BF9-F09C0AB08B0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9" name="Google Shape;349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27"/>
          <p:cNvSpPr txBox="1"/>
          <p:nvPr/>
        </p:nvSpPr>
        <p:spPr>
          <a:xfrm>
            <a:off x="3833812" y="2886075"/>
            <a:ext cx="4367213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Structural &amp; </a:t>
            </a:r>
            <a:r>
              <a:rPr lang="en-US" sz="2400" b="1" i="0" u="none" strike="noStrike" cap="none" dirty="0">
                <a:solidFill>
                  <a:srgbClr val="FF0000"/>
                </a:solidFill>
                <a:latin typeface="Inter"/>
                <a:ea typeface="Inter"/>
                <a:cs typeface="Inter"/>
                <a:sym typeface="Inter"/>
              </a:rPr>
              <a:t>Semantic HTML</a:t>
            </a:r>
            <a:endParaRPr sz="1800" b="1" dirty="0">
              <a:solidFill>
                <a:srgbClr val="FF0000"/>
              </a:solidFill>
            </a:endParaRPr>
          </a:p>
        </p:txBody>
      </p:sp>
      <p:sp>
        <p:nvSpPr>
          <p:cNvPr id="352" name="Google Shape;352;p27"/>
          <p:cNvSpPr/>
          <p:nvPr/>
        </p:nvSpPr>
        <p:spPr>
          <a:xfrm>
            <a:off x="5381625" y="3597473"/>
            <a:ext cx="142875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060E46A-90E9-48C0-992C-C173E20D9DB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Prepared By MD Yeakob Ali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CD42B8F-C1AE-4D54-9E86-407079B78E7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381125"/>
            <a:ext cx="5286375" cy="47223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381125"/>
            <a:ext cx="5286375" cy="4722316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28"/>
          <p:cNvSpPr txBox="1"/>
          <p:nvPr/>
        </p:nvSpPr>
        <p:spPr>
          <a:xfrm>
            <a:off x="962025" y="1771650"/>
            <a:ext cx="4730591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Block-Level Container: Div</a:t>
            </a:r>
            <a:endParaRPr/>
          </a:p>
        </p:txBody>
      </p:sp>
      <p:sp>
        <p:nvSpPr>
          <p:cNvPr id="363" name="Google Shape;363;p28"/>
          <p:cNvSpPr/>
          <p:nvPr/>
        </p:nvSpPr>
        <p:spPr>
          <a:xfrm>
            <a:off x="962025" y="2314575"/>
            <a:ext cx="450532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8"/>
          <p:cNvSpPr txBox="1"/>
          <p:nvPr/>
        </p:nvSpPr>
        <p:spPr>
          <a:xfrm>
            <a:off x="962025" y="2524125"/>
            <a:ext cx="4505325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 tag defines a division or a section in an HTML document. It is a </a:t>
            </a:r>
            <a:r>
              <a:rPr lang="en-US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block-level</a:t>
            </a:r>
            <a:r>
              <a:rPr lang="en-US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element.</a:t>
            </a:r>
            <a:endParaRPr sz="1600"/>
          </a:p>
        </p:txBody>
      </p:sp>
      <p:sp>
        <p:nvSpPr>
          <p:cNvPr id="365" name="Google Shape;365;p28"/>
          <p:cNvSpPr txBox="1"/>
          <p:nvPr/>
        </p:nvSpPr>
        <p:spPr>
          <a:xfrm>
            <a:off x="6724650" y="1771650"/>
            <a:ext cx="4730591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Inline Container: Span</a:t>
            </a:r>
            <a:endParaRPr/>
          </a:p>
        </p:txBody>
      </p:sp>
      <p:sp>
        <p:nvSpPr>
          <p:cNvPr id="366" name="Google Shape;366;p28"/>
          <p:cNvSpPr/>
          <p:nvPr/>
        </p:nvSpPr>
        <p:spPr>
          <a:xfrm>
            <a:off x="6724650" y="2314575"/>
            <a:ext cx="450532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8"/>
          <p:cNvSpPr txBox="1"/>
          <p:nvPr/>
        </p:nvSpPr>
        <p:spPr>
          <a:xfrm>
            <a:off x="6724650" y="2524125"/>
            <a:ext cx="4505325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 tag is an </a:t>
            </a:r>
            <a:r>
              <a:rPr lang="en-US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inline</a:t>
            </a:r>
            <a:r>
              <a:rPr lang="en-US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container used to mark up a part of a text or a document.</a:t>
            </a:r>
            <a:endParaRPr sz="1600"/>
          </a:p>
        </p:txBody>
      </p:sp>
      <p:sp>
        <p:nvSpPr>
          <p:cNvPr id="368" name="Google Shape;368;p28"/>
          <p:cNvSpPr txBox="1"/>
          <p:nvPr/>
        </p:nvSpPr>
        <p:spPr>
          <a:xfrm>
            <a:off x="1028700" y="3271777"/>
            <a:ext cx="9525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600"/>
          </a:p>
        </p:txBody>
      </p:sp>
      <p:sp>
        <p:nvSpPr>
          <p:cNvPr id="369" name="Google Shape;369;p28"/>
          <p:cNvSpPr txBox="1"/>
          <p:nvPr/>
        </p:nvSpPr>
        <p:spPr>
          <a:xfrm>
            <a:off x="1200150" y="3215580"/>
            <a:ext cx="426720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Always starts on a new line.</a:t>
            </a:r>
            <a:endParaRPr sz="1600"/>
          </a:p>
        </p:txBody>
      </p:sp>
      <p:sp>
        <p:nvSpPr>
          <p:cNvPr id="370" name="Google Shape;370;p28"/>
          <p:cNvSpPr txBox="1"/>
          <p:nvPr/>
        </p:nvSpPr>
        <p:spPr>
          <a:xfrm>
            <a:off x="1028700" y="3660368"/>
            <a:ext cx="9525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600"/>
          </a:p>
        </p:txBody>
      </p:sp>
      <p:sp>
        <p:nvSpPr>
          <p:cNvPr id="371" name="Google Shape;371;p28"/>
          <p:cNvSpPr txBox="1"/>
          <p:nvPr/>
        </p:nvSpPr>
        <p:spPr>
          <a:xfrm>
            <a:off x="1200150" y="3604170"/>
            <a:ext cx="426720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Takes up the full width available.</a:t>
            </a:r>
            <a:endParaRPr sz="1600"/>
          </a:p>
        </p:txBody>
      </p:sp>
      <p:sp>
        <p:nvSpPr>
          <p:cNvPr id="372" name="Google Shape;372;p28"/>
          <p:cNvSpPr txBox="1"/>
          <p:nvPr/>
        </p:nvSpPr>
        <p:spPr>
          <a:xfrm>
            <a:off x="1028700" y="4048958"/>
            <a:ext cx="9525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600"/>
          </a:p>
        </p:txBody>
      </p:sp>
      <p:sp>
        <p:nvSpPr>
          <p:cNvPr id="373" name="Google Shape;373;p28"/>
          <p:cNvSpPr txBox="1"/>
          <p:nvPr/>
        </p:nvSpPr>
        <p:spPr>
          <a:xfrm>
            <a:off x="1200150" y="3992760"/>
            <a:ext cx="4267200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Used to group large chunks of content for styling (CSS) or layout logic.</a:t>
            </a:r>
            <a:endParaRPr sz="1600"/>
          </a:p>
        </p:txBody>
      </p:sp>
      <p:sp>
        <p:nvSpPr>
          <p:cNvPr id="377" name="Google Shape;377;p28"/>
          <p:cNvSpPr txBox="1"/>
          <p:nvPr/>
        </p:nvSpPr>
        <p:spPr>
          <a:xfrm>
            <a:off x="6819900" y="3271777"/>
            <a:ext cx="9525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600"/>
          </a:p>
        </p:txBody>
      </p:sp>
      <p:sp>
        <p:nvSpPr>
          <p:cNvPr id="378" name="Google Shape;378;p28"/>
          <p:cNvSpPr txBox="1"/>
          <p:nvPr/>
        </p:nvSpPr>
        <p:spPr>
          <a:xfrm>
            <a:off x="6962775" y="3215580"/>
            <a:ext cx="426720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Does not start on a new line.</a:t>
            </a:r>
            <a:endParaRPr sz="1600"/>
          </a:p>
        </p:txBody>
      </p:sp>
      <p:sp>
        <p:nvSpPr>
          <p:cNvPr id="379" name="Google Shape;379;p28"/>
          <p:cNvSpPr txBox="1"/>
          <p:nvPr/>
        </p:nvSpPr>
        <p:spPr>
          <a:xfrm>
            <a:off x="6819900" y="3660368"/>
            <a:ext cx="9525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600"/>
          </a:p>
        </p:txBody>
      </p:sp>
      <p:sp>
        <p:nvSpPr>
          <p:cNvPr id="380" name="Google Shape;380;p28"/>
          <p:cNvSpPr txBox="1"/>
          <p:nvPr/>
        </p:nvSpPr>
        <p:spPr>
          <a:xfrm>
            <a:off x="6962775" y="3604170"/>
            <a:ext cx="426720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Only takes up as much width as necessary.</a:t>
            </a:r>
            <a:endParaRPr sz="1600"/>
          </a:p>
        </p:txBody>
      </p:sp>
      <p:sp>
        <p:nvSpPr>
          <p:cNvPr id="381" name="Google Shape;381;p28"/>
          <p:cNvSpPr txBox="1"/>
          <p:nvPr/>
        </p:nvSpPr>
        <p:spPr>
          <a:xfrm>
            <a:off x="6819900" y="4048958"/>
            <a:ext cx="9525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600"/>
          </a:p>
        </p:txBody>
      </p:sp>
      <p:sp>
        <p:nvSpPr>
          <p:cNvPr id="382" name="Google Shape;382;p28"/>
          <p:cNvSpPr txBox="1"/>
          <p:nvPr/>
        </p:nvSpPr>
        <p:spPr>
          <a:xfrm>
            <a:off x="6962775" y="3992760"/>
            <a:ext cx="4267200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Used to style specific pieces of text within a paragraph.</a:t>
            </a:r>
            <a:endParaRPr sz="1600"/>
          </a:p>
        </p:txBody>
      </p:sp>
      <p:sp>
        <p:nvSpPr>
          <p:cNvPr id="386" name="Google Shape;386;p28"/>
          <p:cNvSpPr txBox="1"/>
          <p:nvPr/>
        </p:nvSpPr>
        <p:spPr>
          <a:xfrm>
            <a:off x="295275" y="485055"/>
            <a:ext cx="116014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Containers: </a:t>
            </a:r>
            <a:r>
              <a:rPr lang="en-US" sz="3150" b="0" i="0" u="none" strike="noStrike" cap="none" dirty="0" err="1">
                <a:solidFill>
                  <a:srgbClr val="FF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Divs</a:t>
            </a:r>
            <a:r>
              <a:rPr lang="en-US" sz="3150" b="0" i="0" u="none" strike="noStrike" cap="none" dirty="0">
                <a:solidFill>
                  <a:srgbClr val="FF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en-US" sz="3150" b="0" i="0" u="none" strike="noStrike" cap="none" dirty="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vs </a:t>
            </a:r>
            <a:r>
              <a:rPr lang="en-US" sz="3150" b="0" i="0" u="none" strike="noStrike" cap="none" dirty="0">
                <a:solidFill>
                  <a:srgbClr val="00B05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Spans</a:t>
            </a:r>
            <a:endParaRPr dirty="0">
              <a:solidFill>
                <a:srgbClr val="00B05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0416669-5311-47B2-A84A-4DB00EBBEAC3}"/>
              </a:ext>
            </a:extLst>
          </p:cNvPr>
          <p:cNvSpPr txBox="1"/>
          <p:nvPr/>
        </p:nvSpPr>
        <p:spPr>
          <a:xfrm>
            <a:off x="962025" y="4847174"/>
            <a:ext cx="4505325" cy="103111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0" i="0" dirty="0">
                <a:solidFill>
                  <a:srgbClr val="38BDF8"/>
                </a:solidFill>
                <a:effectLst/>
                <a:latin typeface="Fira Code" panose="020B0809050000020004" pitchFamily="49" charset="0"/>
              </a:rPr>
              <a:t>&lt;div</a:t>
            </a:r>
            <a:r>
              <a:rPr lang="en-US" b="0" i="0" dirty="0">
                <a:solidFill>
                  <a:srgbClr val="E2E8F0"/>
                </a:solidFill>
                <a:effectLst/>
                <a:latin typeface="Fira Code" panose="020B0809050000020004" pitchFamily="49" charset="0"/>
              </a:rPr>
              <a:t> </a:t>
            </a:r>
            <a:r>
              <a:rPr lang="en-US" b="0" i="0" dirty="0">
                <a:solidFill>
                  <a:srgbClr val="A78BFA"/>
                </a:solidFill>
                <a:effectLst/>
                <a:latin typeface="Fira Code" panose="020B0809050000020004" pitchFamily="49" charset="0"/>
              </a:rPr>
              <a:t>class=</a:t>
            </a:r>
            <a:r>
              <a:rPr lang="en-US" b="0" i="0" dirty="0">
                <a:solidFill>
                  <a:srgbClr val="A3E635"/>
                </a:solidFill>
                <a:effectLst/>
                <a:latin typeface="Fira Code" panose="020B0809050000020004" pitchFamily="49" charset="0"/>
              </a:rPr>
              <a:t>"card"</a:t>
            </a:r>
            <a:r>
              <a:rPr lang="en-US" b="0" i="0" dirty="0">
                <a:solidFill>
                  <a:srgbClr val="38BDF8"/>
                </a:solidFill>
                <a:effectLst/>
                <a:latin typeface="Fira Code" panose="020B0809050000020004" pitchFamily="49" charset="0"/>
              </a:rPr>
              <a:t>&gt;</a:t>
            </a:r>
            <a:r>
              <a:rPr lang="en-US" b="0" i="0" dirty="0">
                <a:solidFill>
                  <a:srgbClr val="E2E8F0"/>
                </a:solidFill>
                <a:effectLst/>
                <a:latin typeface="Fira Code" panose="020B0809050000020004" pitchFamily="49" charset="0"/>
              </a:rPr>
              <a:t> </a:t>
            </a:r>
            <a:r>
              <a:rPr lang="en-US" b="0" i="0" dirty="0">
                <a:solidFill>
                  <a:srgbClr val="38BDF8"/>
                </a:solidFill>
                <a:effectLst/>
                <a:latin typeface="Fira Code" panose="020B0809050000020004" pitchFamily="49" charset="0"/>
              </a:rPr>
              <a:t>&lt;h3&gt;</a:t>
            </a:r>
            <a:r>
              <a:rPr lang="en-US" b="0" i="0" dirty="0">
                <a:solidFill>
                  <a:srgbClr val="E2E8F0"/>
                </a:solidFill>
                <a:effectLst/>
                <a:latin typeface="Fira Code" panose="020B0809050000020004" pitchFamily="49" charset="0"/>
              </a:rPr>
              <a:t>Title</a:t>
            </a:r>
            <a:r>
              <a:rPr lang="en-US" b="0" i="0" dirty="0">
                <a:solidFill>
                  <a:srgbClr val="38BDF8"/>
                </a:solidFill>
                <a:effectLst/>
                <a:latin typeface="Fira Code" panose="020B0809050000020004" pitchFamily="49" charset="0"/>
              </a:rPr>
              <a:t>&lt;/h3&gt;</a:t>
            </a:r>
          </a:p>
          <a:p>
            <a:pPr>
              <a:lnSpc>
                <a:spcPct val="150000"/>
              </a:lnSpc>
            </a:pPr>
            <a:r>
              <a:rPr lang="en-US" b="0" i="0" dirty="0">
                <a:solidFill>
                  <a:srgbClr val="E2E8F0"/>
                </a:solidFill>
                <a:effectLst/>
                <a:latin typeface="Fira Code" panose="020B0809050000020004" pitchFamily="49" charset="0"/>
              </a:rPr>
              <a:t> </a:t>
            </a:r>
            <a:r>
              <a:rPr lang="en-US" b="0" i="0" dirty="0">
                <a:solidFill>
                  <a:srgbClr val="38BDF8"/>
                </a:solidFill>
                <a:effectLst/>
                <a:latin typeface="Fira Code" panose="020B0809050000020004" pitchFamily="49" charset="0"/>
              </a:rPr>
              <a:t>&lt;p&gt;</a:t>
            </a:r>
            <a:r>
              <a:rPr lang="en-US" b="0" i="0" dirty="0">
                <a:solidFill>
                  <a:srgbClr val="E2E8F0"/>
                </a:solidFill>
                <a:effectLst/>
                <a:latin typeface="Fira Code" panose="020B0809050000020004" pitchFamily="49" charset="0"/>
              </a:rPr>
              <a:t>Card content goes here.</a:t>
            </a:r>
            <a:r>
              <a:rPr lang="en-US" b="0" i="0" dirty="0">
                <a:solidFill>
                  <a:srgbClr val="38BDF8"/>
                </a:solidFill>
                <a:effectLst/>
                <a:latin typeface="Fira Code" panose="020B0809050000020004" pitchFamily="49" charset="0"/>
              </a:rPr>
              <a:t>&lt;/p&gt;</a:t>
            </a:r>
            <a:r>
              <a:rPr lang="en-US" b="0" i="0" dirty="0">
                <a:solidFill>
                  <a:srgbClr val="E2E8F0"/>
                </a:solidFill>
                <a:effectLst/>
                <a:latin typeface="Fira Code" panose="020B0809050000020004" pitchFamily="49" charset="0"/>
              </a:rPr>
              <a:t> </a:t>
            </a:r>
          </a:p>
          <a:p>
            <a:pPr>
              <a:lnSpc>
                <a:spcPct val="150000"/>
              </a:lnSpc>
            </a:pPr>
            <a:r>
              <a:rPr lang="en-US" b="0" i="0" dirty="0">
                <a:solidFill>
                  <a:srgbClr val="38BDF8"/>
                </a:solidFill>
                <a:effectLst/>
                <a:latin typeface="Fira Code" panose="020B0809050000020004" pitchFamily="49" charset="0"/>
              </a:rPr>
              <a:t>&lt;/div&gt;</a:t>
            </a:r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DB6D753-DC35-411F-B785-28083C60C59A}"/>
              </a:ext>
            </a:extLst>
          </p:cNvPr>
          <p:cNvSpPr txBox="1"/>
          <p:nvPr/>
        </p:nvSpPr>
        <p:spPr>
          <a:xfrm>
            <a:off x="6819900" y="4922311"/>
            <a:ext cx="4591050" cy="70795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0" i="0" dirty="0">
                <a:solidFill>
                  <a:srgbClr val="38BDF8"/>
                </a:solidFill>
                <a:effectLst/>
                <a:latin typeface="Fira Code" panose="020B0809050000020004" pitchFamily="49" charset="0"/>
              </a:rPr>
              <a:t>&lt;p&gt;</a:t>
            </a:r>
            <a:r>
              <a:rPr lang="en-US" b="0" i="0" dirty="0">
                <a:solidFill>
                  <a:srgbClr val="E2E8F0"/>
                </a:solidFill>
                <a:effectLst/>
                <a:latin typeface="Fira Code" panose="020B0809050000020004" pitchFamily="49" charset="0"/>
              </a:rPr>
              <a:t>This text has a </a:t>
            </a:r>
            <a:r>
              <a:rPr lang="en-US" b="0" i="0" dirty="0">
                <a:solidFill>
                  <a:srgbClr val="38BDF8"/>
                </a:solidFill>
                <a:effectLst/>
                <a:latin typeface="Fira Code" panose="020B0809050000020004" pitchFamily="49" charset="0"/>
              </a:rPr>
              <a:t>&lt;span</a:t>
            </a:r>
            <a:r>
              <a:rPr lang="en-US" b="0" i="0" dirty="0">
                <a:solidFill>
                  <a:srgbClr val="E2E8F0"/>
                </a:solidFill>
                <a:effectLst/>
                <a:latin typeface="Fira Code" panose="020B0809050000020004" pitchFamily="49" charset="0"/>
              </a:rPr>
              <a:t> </a:t>
            </a:r>
            <a:r>
              <a:rPr lang="en-US" b="0" i="0" dirty="0">
                <a:solidFill>
                  <a:srgbClr val="A78BFA"/>
                </a:solidFill>
                <a:effectLst/>
                <a:latin typeface="Fira Code" panose="020B0809050000020004" pitchFamily="49" charset="0"/>
              </a:rPr>
              <a:t>style=</a:t>
            </a:r>
            <a:r>
              <a:rPr lang="en-US" b="0" i="0" dirty="0">
                <a:solidFill>
                  <a:srgbClr val="A3E635"/>
                </a:solidFill>
                <a:effectLst/>
                <a:latin typeface="Fira Code" panose="020B0809050000020004" pitchFamily="49" charset="0"/>
              </a:rPr>
              <a:t>"color: red"</a:t>
            </a:r>
            <a:r>
              <a:rPr lang="en-US" b="0" i="0" dirty="0">
                <a:solidFill>
                  <a:srgbClr val="38BDF8"/>
                </a:solidFill>
                <a:effectLst/>
                <a:latin typeface="Fira Code" panose="020B0809050000020004" pitchFamily="49" charset="0"/>
              </a:rPr>
              <a:t>&gt;</a:t>
            </a:r>
            <a:r>
              <a:rPr lang="en-US" b="0" i="0" dirty="0">
                <a:solidFill>
                  <a:srgbClr val="E2E8F0"/>
                </a:solidFill>
                <a:effectLst/>
                <a:latin typeface="Fira Code" panose="020B0809050000020004" pitchFamily="49" charset="0"/>
              </a:rPr>
              <a:t>red highlight</a:t>
            </a:r>
            <a:r>
              <a:rPr lang="en-US" b="0" i="0" dirty="0">
                <a:solidFill>
                  <a:srgbClr val="38BDF8"/>
                </a:solidFill>
                <a:effectLst/>
                <a:latin typeface="Fira Code" panose="020B0809050000020004" pitchFamily="49" charset="0"/>
              </a:rPr>
              <a:t>&lt;/span&gt;</a:t>
            </a:r>
            <a:r>
              <a:rPr lang="en-US" b="0" i="0" dirty="0">
                <a:solidFill>
                  <a:srgbClr val="E2E8F0"/>
                </a:solidFill>
                <a:effectLst/>
                <a:latin typeface="Fira Code" panose="020B0809050000020004" pitchFamily="49" charset="0"/>
              </a:rPr>
              <a:t> inside it.</a:t>
            </a:r>
            <a:r>
              <a:rPr lang="en-US" b="0" i="0" dirty="0">
                <a:solidFill>
                  <a:srgbClr val="38BDF8"/>
                </a:solidFill>
                <a:effectLst/>
                <a:latin typeface="Fira Code" panose="020B0809050000020004" pitchFamily="49" charset="0"/>
              </a:rPr>
              <a:t>&lt;/p&gt;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4967F2-71E2-48F9-83CC-7CD4BBCAFEC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Prepared By MD Yeakob Ali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617EB7-4816-4376-AAA5-6C27241916F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1" name="Google Shape;391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55257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29"/>
          <p:cNvSpPr txBox="1"/>
          <p:nvPr/>
        </p:nvSpPr>
        <p:spPr>
          <a:xfrm>
            <a:off x="571500" y="1304925"/>
            <a:ext cx="5286375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Semantic elements clearly describe their meaning to both the browser and the developer. Instead of using generic  tags everywhere, HTML5 introduced tags with clear purposes:</a:t>
            </a:r>
            <a:endParaRPr sz="1600"/>
          </a:p>
        </p:txBody>
      </p:sp>
      <p:pic>
        <p:nvPicPr>
          <p:cNvPr id="408" name="Google Shape;408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562100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29"/>
          <p:cNvSpPr txBox="1"/>
          <p:nvPr/>
        </p:nvSpPr>
        <p:spPr>
          <a:xfrm>
            <a:off x="542925" y="767786"/>
            <a:ext cx="116014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00B05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Semantic </a:t>
            </a:r>
            <a:r>
              <a:rPr lang="en-US" sz="3150" b="0" i="0" u="none" strike="noStrike" cap="none" dirty="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HTML5 Elements</a:t>
            </a:r>
            <a:endParaRPr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2AC89A4-EC5B-4AEF-8EE8-69A8AC7F368F}"/>
              </a:ext>
            </a:extLst>
          </p:cNvPr>
          <p:cNvSpPr txBox="1"/>
          <p:nvPr/>
        </p:nvSpPr>
        <p:spPr>
          <a:xfrm>
            <a:off x="581025" y="2364983"/>
            <a:ext cx="5181600" cy="3751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0369A1"/>
                </a:solidFill>
                <a:effectLst/>
                <a:latin typeface="Fira Code" panose="020B0809050000020004" pitchFamily="49" charset="0"/>
              </a:rPr>
              <a:t>&lt;header&gt;</a:t>
            </a:r>
            <a:r>
              <a:rPr lang="en-US" sz="1600" b="0" i="0" dirty="0">
                <a:solidFill>
                  <a:srgbClr val="475569"/>
                </a:solidFill>
                <a:effectLst/>
                <a:latin typeface="Inter" panose="020B0604020202020204" charset="0"/>
              </a:rPr>
              <a:t>: Introductory content or navigation links.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0369A1"/>
                </a:solidFill>
                <a:effectLst/>
                <a:latin typeface="Fira Code" panose="020B0809050000020004" pitchFamily="49" charset="0"/>
              </a:rPr>
              <a:t>&lt;nav&gt;</a:t>
            </a:r>
            <a:r>
              <a:rPr lang="en-US" sz="1600" b="0" i="0" dirty="0">
                <a:solidFill>
                  <a:srgbClr val="475569"/>
                </a:solidFill>
                <a:effectLst/>
                <a:latin typeface="Inter" panose="020B0604020202020204" charset="0"/>
              </a:rPr>
              <a:t>: A section containing navigation links.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0369A1"/>
                </a:solidFill>
                <a:effectLst/>
                <a:latin typeface="Fira Code" panose="020B0809050000020004" pitchFamily="49" charset="0"/>
              </a:rPr>
              <a:t>&lt;main&gt;</a:t>
            </a:r>
            <a:r>
              <a:rPr lang="en-US" sz="1600" b="0" i="0" dirty="0">
                <a:solidFill>
                  <a:srgbClr val="475569"/>
                </a:solidFill>
                <a:effectLst/>
                <a:latin typeface="Inter" panose="020B0604020202020204" charset="0"/>
              </a:rPr>
              <a:t>: The dominant content of the document.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0369A1"/>
                </a:solidFill>
                <a:effectLst/>
                <a:latin typeface="Fira Code" panose="020B0809050000020004" pitchFamily="49" charset="0"/>
              </a:rPr>
              <a:t>&lt;article&gt;</a:t>
            </a:r>
            <a:r>
              <a:rPr lang="en-US" sz="1600" b="0" i="0" dirty="0">
                <a:solidFill>
                  <a:srgbClr val="475569"/>
                </a:solidFill>
                <a:effectLst/>
                <a:latin typeface="Inter" panose="020B0604020202020204" charset="0"/>
              </a:rPr>
              <a:t>: Independent, self-contained content (e.g., blog post).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0369A1"/>
                </a:solidFill>
                <a:effectLst/>
                <a:latin typeface="Fira Code" panose="020B0809050000020004" pitchFamily="49" charset="0"/>
              </a:rPr>
              <a:t>&lt;section&gt;</a:t>
            </a:r>
            <a:r>
              <a:rPr lang="en-US" sz="1600" b="0" i="0" dirty="0">
                <a:solidFill>
                  <a:srgbClr val="475569"/>
                </a:solidFill>
                <a:effectLst/>
                <a:latin typeface="Inter" panose="020B0604020202020204" charset="0"/>
              </a:rPr>
              <a:t>: A thematic grouping of content.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0369A1"/>
                </a:solidFill>
                <a:effectLst/>
                <a:latin typeface="Fira Code" panose="020B0809050000020004" pitchFamily="49" charset="0"/>
              </a:rPr>
              <a:t>&lt;aside&gt;</a:t>
            </a:r>
            <a:r>
              <a:rPr lang="en-US" sz="1600" b="0" i="0" dirty="0">
                <a:solidFill>
                  <a:srgbClr val="475569"/>
                </a:solidFill>
                <a:effectLst/>
                <a:latin typeface="Inter" panose="020B0604020202020204" charset="0"/>
              </a:rPr>
              <a:t>: Content tangentially related to the main content (sidebar).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0369A1"/>
                </a:solidFill>
                <a:effectLst/>
                <a:latin typeface="Fira Code" panose="020B0809050000020004" pitchFamily="49" charset="0"/>
              </a:rPr>
              <a:t>&lt;footer&gt;</a:t>
            </a:r>
            <a:r>
              <a:rPr lang="en-US" sz="1600" b="0" i="0" dirty="0">
                <a:solidFill>
                  <a:srgbClr val="475569"/>
                </a:solidFill>
                <a:effectLst/>
                <a:latin typeface="Inter" panose="020B0604020202020204" charset="0"/>
              </a:rPr>
              <a:t>: Footer of a document or section.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BCD2C8-4441-466A-9C05-48AF0075BFE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Prepared By MD Yeakob Ali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F62D9C-4AA7-4102-8A67-86CEAE19EC7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4" name="Google Shape;414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62150"/>
            <a:ext cx="3492549" cy="3466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1962150"/>
            <a:ext cx="3492549" cy="3466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3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1962150"/>
            <a:ext cx="3492549" cy="3466951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30"/>
          <p:cNvSpPr txBox="1"/>
          <p:nvPr/>
        </p:nvSpPr>
        <p:spPr>
          <a:xfrm>
            <a:off x="1106329" y="3028950"/>
            <a:ext cx="2740342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Accessibility (A11y)</a:t>
            </a:r>
            <a:endParaRPr dirty="0"/>
          </a:p>
        </p:txBody>
      </p:sp>
      <p:sp>
        <p:nvSpPr>
          <p:cNvPr id="420" name="Google Shape;420;p30"/>
          <p:cNvSpPr txBox="1"/>
          <p:nvPr/>
        </p:nvSpPr>
        <p:spPr>
          <a:xfrm>
            <a:off x="5789741" y="2924175"/>
            <a:ext cx="530066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SEO</a:t>
            </a:r>
            <a:endParaRPr/>
          </a:p>
        </p:txBody>
      </p:sp>
      <p:sp>
        <p:nvSpPr>
          <p:cNvPr id="422" name="Google Shape;422;p30"/>
          <p:cNvSpPr txBox="1"/>
          <p:nvPr/>
        </p:nvSpPr>
        <p:spPr>
          <a:xfrm>
            <a:off x="8793688" y="3009900"/>
            <a:ext cx="2180272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Maintainability</a:t>
            </a:r>
            <a:endParaRPr dirty="0"/>
          </a:p>
        </p:txBody>
      </p:sp>
      <p:pic>
        <p:nvPicPr>
          <p:cNvPr id="424" name="Google Shape;424;p3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76450" y="2343150"/>
            <a:ext cx="4000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3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54749" y="2343150"/>
            <a:ext cx="4000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3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33049" y="2343150"/>
            <a:ext cx="504825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30"/>
          <p:cNvSpPr txBox="1"/>
          <p:nvPr/>
        </p:nvSpPr>
        <p:spPr>
          <a:xfrm>
            <a:off x="54024" y="856938"/>
            <a:ext cx="116014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Why </a:t>
            </a:r>
            <a:r>
              <a:rPr lang="en-US" sz="3150" b="0" i="0" u="none" strike="noStrike" cap="none" dirty="0">
                <a:solidFill>
                  <a:srgbClr val="FF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Semantic HTML </a:t>
            </a:r>
            <a:r>
              <a:rPr lang="en-US" sz="3150" b="0" i="0" u="none" strike="noStrike" cap="none" dirty="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Matters?</a:t>
            </a:r>
            <a:endParaRPr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6C6627-9A88-4F4D-9006-44BA7A93DBBB}"/>
              </a:ext>
            </a:extLst>
          </p:cNvPr>
          <p:cNvSpPr txBox="1"/>
          <p:nvPr/>
        </p:nvSpPr>
        <p:spPr>
          <a:xfrm>
            <a:off x="8375749" y="3409950"/>
            <a:ext cx="3016151" cy="1668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Semantic code is easier to read and maintain. Looking at a document full of &lt;div class="..."&gt; is much harder to decipher than clear tags like &lt;header&gt; and &lt;footer&gt;.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E20176-3553-47C8-9472-E46D620885EB}"/>
              </a:ext>
            </a:extLst>
          </p:cNvPr>
          <p:cNvSpPr txBox="1"/>
          <p:nvPr/>
        </p:nvSpPr>
        <p:spPr>
          <a:xfrm>
            <a:off x="4635549" y="3429000"/>
            <a:ext cx="3048000" cy="1668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Search engines give more weight to content inside semantic tags. An &lt;h1&gt; or &lt;article&gt; tells Google exactly what the most important text on the page is.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83D4BB8-3A4E-4C91-8488-43DA7117C1F1}"/>
              </a:ext>
            </a:extLst>
          </p:cNvPr>
          <p:cNvSpPr txBox="1"/>
          <p:nvPr/>
        </p:nvSpPr>
        <p:spPr>
          <a:xfrm>
            <a:off x="793774" y="3429000"/>
            <a:ext cx="3048000" cy="1668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Screen readers use semantic tags as signposts. It allows visually impaired users to navigate your site accurately (e.g., skipping straight to the &lt;nav&gt; or &lt;main&gt;).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7A7D8F-7543-4C1A-9D4C-384922CC7A9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Prepared By MD Yeakob Ali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45413F-6DD4-4D4C-8B64-8C93F2BABCC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2" name="Google Shape;432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31"/>
          <p:cNvSpPr txBox="1"/>
          <p:nvPr/>
        </p:nvSpPr>
        <p:spPr>
          <a:xfrm>
            <a:off x="3864768" y="3133534"/>
            <a:ext cx="4462463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Structuring Data with </a:t>
            </a:r>
            <a:r>
              <a:rPr lang="en-US" sz="2400" b="1" i="0" u="none" strike="noStrike" cap="none" dirty="0">
                <a:solidFill>
                  <a:srgbClr val="FF0000"/>
                </a:solidFill>
                <a:latin typeface="Inter"/>
                <a:ea typeface="Inter"/>
                <a:cs typeface="Inter"/>
                <a:sym typeface="Inter"/>
              </a:rPr>
              <a:t>Tables</a:t>
            </a:r>
            <a:endParaRPr sz="1800" b="1" dirty="0">
              <a:solidFill>
                <a:srgbClr val="FF0000"/>
              </a:solidFill>
            </a:endParaRPr>
          </a:p>
        </p:txBody>
      </p:sp>
      <p:sp>
        <p:nvSpPr>
          <p:cNvPr id="435" name="Google Shape;435;p31"/>
          <p:cNvSpPr/>
          <p:nvPr/>
        </p:nvSpPr>
        <p:spPr>
          <a:xfrm>
            <a:off x="5381624" y="3864173"/>
            <a:ext cx="142875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983E0E2-1F94-4DDA-BEC7-3B4A96D0430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Prepared By MD Yeakob Ali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629B8E-D571-4303-BD27-055E29D9D6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" name="Google Shape;440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55257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32"/>
          <p:cNvSpPr txBox="1"/>
          <p:nvPr/>
        </p:nvSpPr>
        <p:spPr>
          <a:xfrm>
            <a:off x="571500" y="1552575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Tables are used to arrange data into rows and columns.</a:t>
            </a:r>
            <a:endParaRPr/>
          </a:p>
        </p:txBody>
      </p:sp>
      <p:pic>
        <p:nvPicPr>
          <p:cNvPr id="452" name="Google Shape;452;p3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562100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32"/>
          <p:cNvSpPr txBox="1"/>
          <p:nvPr/>
        </p:nvSpPr>
        <p:spPr>
          <a:xfrm>
            <a:off x="542925" y="770393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Basic Table Structure</a:t>
            </a:r>
            <a:endParaRPr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5EC182C-A0CE-4200-8722-2F3F0430A2B4}"/>
              </a:ext>
            </a:extLst>
          </p:cNvPr>
          <p:cNvSpPr txBox="1"/>
          <p:nvPr/>
        </p:nvSpPr>
        <p:spPr>
          <a:xfrm>
            <a:off x="571500" y="2008972"/>
            <a:ext cx="5524500" cy="1677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369A1"/>
                </a:solidFill>
                <a:effectLst/>
                <a:latin typeface="Fira Code" panose="020B0809050000020004" pitchFamily="49" charset="0"/>
              </a:rPr>
              <a:t>&lt;table&gt;</a:t>
            </a:r>
            <a:r>
              <a:rPr lang="en-US" b="0" i="0" dirty="0">
                <a:solidFill>
                  <a:srgbClr val="475569"/>
                </a:solidFill>
                <a:effectLst/>
                <a:latin typeface="Inter" panose="020B0604020202020204" charset="0"/>
              </a:rPr>
              <a:t>: Wraps the entire table.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369A1"/>
                </a:solidFill>
                <a:effectLst/>
                <a:latin typeface="Fira Code" panose="020B0809050000020004" pitchFamily="49" charset="0"/>
              </a:rPr>
              <a:t>&lt;tr&gt;</a:t>
            </a:r>
            <a:r>
              <a:rPr lang="en-US" b="0" i="0" dirty="0">
                <a:solidFill>
                  <a:srgbClr val="475569"/>
                </a:solidFill>
                <a:effectLst/>
                <a:latin typeface="Inter" panose="020B0604020202020204" charset="0"/>
              </a:rPr>
              <a:t>: Defines a Table Row.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369A1"/>
                </a:solidFill>
                <a:effectLst/>
                <a:latin typeface="Fira Code" panose="020B0809050000020004" pitchFamily="49" charset="0"/>
              </a:rPr>
              <a:t>&lt;</a:t>
            </a:r>
            <a:r>
              <a:rPr lang="en-US" b="0" i="0" dirty="0" err="1">
                <a:solidFill>
                  <a:srgbClr val="0369A1"/>
                </a:solidFill>
                <a:effectLst/>
                <a:latin typeface="Fira Code" panose="020B0809050000020004" pitchFamily="49" charset="0"/>
              </a:rPr>
              <a:t>th</a:t>
            </a:r>
            <a:r>
              <a:rPr lang="en-US" b="0" i="0" dirty="0">
                <a:solidFill>
                  <a:srgbClr val="0369A1"/>
                </a:solidFill>
                <a:effectLst/>
                <a:latin typeface="Fira Code" panose="020B0809050000020004" pitchFamily="49" charset="0"/>
              </a:rPr>
              <a:t>&gt;</a:t>
            </a:r>
            <a:r>
              <a:rPr lang="en-US" b="0" i="0" dirty="0">
                <a:solidFill>
                  <a:srgbClr val="475569"/>
                </a:solidFill>
                <a:effectLst/>
                <a:latin typeface="Inter" panose="020B0604020202020204" charset="0"/>
              </a:rPr>
              <a:t>: Defines a Table Header cell (bold &amp; centered by default).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369A1"/>
                </a:solidFill>
                <a:effectLst/>
                <a:latin typeface="Fira Code" panose="020B0809050000020004" pitchFamily="49" charset="0"/>
              </a:rPr>
              <a:t>&lt;td&gt;</a:t>
            </a:r>
            <a:r>
              <a:rPr lang="en-US" b="0" i="0" dirty="0">
                <a:solidFill>
                  <a:srgbClr val="475569"/>
                </a:solidFill>
                <a:effectLst/>
                <a:latin typeface="Inter" panose="020B0604020202020204" charset="0"/>
              </a:rPr>
              <a:t>: Defines a standard Table Data cell.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39757EA-7C53-4836-825E-6FD097C38D1D}"/>
              </a:ext>
            </a:extLst>
          </p:cNvPr>
          <p:cNvSpPr txBox="1"/>
          <p:nvPr/>
        </p:nvSpPr>
        <p:spPr>
          <a:xfrm>
            <a:off x="666750" y="3911359"/>
            <a:ext cx="5181600" cy="62004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0" i="0" dirty="0">
                <a:solidFill>
                  <a:srgbClr val="38BDF8"/>
                </a:solidFill>
                <a:effectLst/>
                <a:latin typeface="Fira Code" panose="020B0809050000020004" pitchFamily="49" charset="0"/>
              </a:rPr>
              <a:t>&lt;table&gt;</a:t>
            </a:r>
            <a:r>
              <a:rPr lang="en-US" sz="1200" b="0" i="0" dirty="0">
                <a:solidFill>
                  <a:srgbClr val="E2E8F0"/>
                </a:solidFill>
                <a:effectLst/>
                <a:latin typeface="Fira Code" panose="020B0809050000020004" pitchFamily="49" charset="0"/>
              </a:rPr>
              <a:t> </a:t>
            </a:r>
            <a:r>
              <a:rPr lang="en-US" sz="1200" b="0" i="0" dirty="0">
                <a:solidFill>
                  <a:srgbClr val="38BDF8"/>
                </a:solidFill>
                <a:effectLst/>
                <a:latin typeface="Fira Code" panose="020B0809050000020004" pitchFamily="49" charset="0"/>
              </a:rPr>
              <a:t>&lt;tr&gt;</a:t>
            </a:r>
            <a:r>
              <a:rPr lang="en-US" sz="1200" b="0" i="0" dirty="0">
                <a:solidFill>
                  <a:srgbClr val="E2E8F0"/>
                </a:solidFill>
                <a:effectLst/>
                <a:latin typeface="Fira Code" panose="020B0809050000020004" pitchFamily="49" charset="0"/>
              </a:rPr>
              <a:t> </a:t>
            </a:r>
            <a:r>
              <a:rPr lang="en-US" sz="1200" b="0" i="0" dirty="0">
                <a:solidFill>
                  <a:srgbClr val="38BDF8"/>
                </a:solidFill>
                <a:effectLst/>
                <a:latin typeface="Fira Code" panose="020B0809050000020004" pitchFamily="49" charset="0"/>
              </a:rPr>
              <a:t>&lt;</a:t>
            </a:r>
            <a:r>
              <a:rPr lang="en-US" sz="1200" b="0" i="0" dirty="0" err="1">
                <a:solidFill>
                  <a:srgbClr val="38BDF8"/>
                </a:solidFill>
                <a:effectLst/>
                <a:latin typeface="Fira Code" panose="020B0809050000020004" pitchFamily="49" charset="0"/>
              </a:rPr>
              <a:t>th</a:t>
            </a:r>
            <a:r>
              <a:rPr lang="en-US" sz="1200" b="0" i="0" dirty="0">
                <a:solidFill>
                  <a:srgbClr val="38BDF8"/>
                </a:solidFill>
                <a:effectLst/>
                <a:latin typeface="Fira Code" panose="020B0809050000020004" pitchFamily="49" charset="0"/>
              </a:rPr>
              <a:t>&gt;</a:t>
            </a:r>
            <a:r>
              <a:rPr lang="en-US" sz="1200" b="0" i="0" dirty="0">
                <a:solidFill>
                  <a:srgbClr val="E2E8F0"/>
                </a:solidFill>
                <a:effectLst/>
                <a:latin typeface="Fira Code" panose="020B0809050000020004" pitchFamily="49" charset="0"/>
              </a:rPr>
              <a:t>Name</a:t>
            </a:r>
            <a:r>
              <a:rPr lang="en-US" sz="1200" b="0" i="0" dirty="0">
                <a:solidFill>
                  <a:srgbClr val="38BDF8"/>
                </a:solidFill>
                <a:effectLst/>
                <a:latin typeface="Fira Code" panose="020B0809050000020004" pitchFamily="49" charset="0"/>
              </a:rPr>
              <a:t>&lt;/</a:t>
            </a:r>
            <a:r>
              <a:rPr lang="en-US" sz="1200" b="0" i="0" dirty="0" err="1">
                <a:solidFill>
                  <a:srgbClr val="38BDF8"/>
                </a:solidFill>
                <a:effectLst/>
                <a:latin typeface="Fira Code" panose="020B0809050000020004" pitchFamily="49" charset="0"/>
              </a:rPr>
              <a:t>th</a:t>
            </a:r>
            <a:r>
              <a:rPr lang="en-US" sz="1200" b="0" i="0" dirty="0">
                <a:solidFill>
                  <a:srgbClr val="38BDF8"/>
                </a:solidFill>
                <a:effectLst/>
                <a:latin typeface="Fira Code" panose="020B0809050000020004" pitchFamily="49" charset="0"/>
              </a:rPr>
              <a:t>&gt;</a:t>
            </a:r>
            <a:r>
              <a:rPr lang="en-US" sz="1200" b="0" i="0" dirty="0">
                <a:solidFill>
                  <a:srgbClr val="E2E8F0"/>
                </a:solidFill>
                <a:effectLst/>
                <a:latin typeface="Fira Code" panose="020B0809050000020004" pitchFamily="49" charset="0"/>
              </a:rPr>
              <a:t> </a:t>
            </a:r>
            <a:r>
              <a:rPr lang="en-US" sz="1200" b="0" i="0" dirty="0">
                <a:solidFill>
                  <a:srgbClr val="38BDF8"/>
                </a:solidFill>
                <a:effectLst/>
                <a:latin typeface="Fira Code" panose="020B0809050000020004" pitchFamily="49" charset="0"/>
              </a:rPr>
              <a:t>&lt;</a:t>
            </a:r>
            <a:r>
              <a:rPr lang="en-US" sz="1200" b="0" i="0" dirty="0" err="1">
                <a:solidFill>
                  <a:srgbClr val="38BDF8"/>
                </a:solidFill>
                <a:effectLst/>
                <a:latin typeface="Fira Code" panose="020B0809050000020004" pitchFamily="49" charset="0"/>
              </a:rPr>
              <a:t>th</a:t>
            </a:r>
            <a:r>
              <a:rPr lang="en-US" sz="1200" b="0" i="0" dirty="0">
                <a:solidFill>
                  <a:srgbClr val="38BDF8"/>
                </a:solidFill>
                <a:effectLst/>
                <a:latin typeface="Fira Code" panose="020B0809050000020004" pitchFamily="49" charset="0"/>
              </a:rPr>
              <a:t>&gt;</a:t>
            </a:r>
            <a:r>
              <a:rPr lang="en-US" sz="1200" b="0" i="0" dirty="0">
                <a:solidFill>
                  <a:srgbClr val="E2E8F0"/>
                </a:solidFill>
                <a:effectLst/>
                <a:latin typeface="Fira Code" panose="020B0809050000020004" pitchFamily="49" charset="0"/>
              </a:rPr>
              <a:t>Age</a:t>
            </a:r>
            <a:r>
              <a:rPr lang="en-US" sz="1200" b="0" i="0" dirty="0">
                <a:solidFill>
                  <a:srgbClr val="38BDF8"/>
                </a:solidFill>
                <a:effectLst/>
                <a:latin typeface="Fira Code" panose="020B0809050000020004" pitchFamily="49" charset="0"/>
              </a:rPr>
              <a:t>&lt;/</a:t>
            </a:r>
            <a:r>
              <a:rPr lang="en-US" sz="1200" b="0" i="0" dirty="0" err="1">
                <a:solidFill>
                  <a:srgbClr val="38BDF8"/>
                </a:solidFill>
                <a:effectLst/>
                <a:latin typeface="Fira Code" panose="020B0809050000020004" pitchFamily="49" charset="0"/>
              </a:rPr>
              <a:t>th</a:t>
            </a:r>
            <a:r>
              <a:rPr lang="en-US" sz="1200" b="0" i="0" dirty="0">
                <a:solidFill>
                  <a:srgbClr val="38BDF8"/>
                </a:solidFill>
                <a:effectLst/>
                <a:latin typeface="Fira Code" panose="020B0809050000020004" pitchFamily="49" charset="0"/>
              </a:rPr>
              <a:t>&gt;</a:t>
            </a:r>
            <a:r>
              <a:rPr lang="en-US" sz="1200" b="0" i="0" dirty="0">
                <a:solidFill>
                  <a:srgbClr val="E2E8F0"/>
                </a:solidFill>
                <a:effectLst/>
                <a:latin typeface="Fira Code" panose="020B0809050000020004" pitchFamily="49" charset="0"/>
              </a:rPr>
              <a:t> </a:t>
            </a:r>
            <a:r>
              <a:rPr lang="en-US" sz="1200" b="0" i="0" dirty="0">
                <a:solidFill>
                  <a:srgbClr val="38BDF8"/>
                </a:solidFill>
                <a:effectLst/>
                <a:latin typeface="Fira Code" panose="020B0809050000020004" pitchFamily="49" charset="0"/>
              </a:rPr>
              <a:t>&lt;/tr&gt;</a:t>
            </a:r>
            <a:r>
              <a:rPr lang="en-US" sz="1200" b="0" i="0" dirty="0">
                <a:solidFill>
                  <a:srgbClr val="E2E8F0"/>
                </a:solidFill>
                <a:effectLst/>
                <a:latin typeface="Fira Code" panose="020B0809050000020004" pitchFamily="49" charset="0"/>
              </a:rPr>
              <a:t> </a:t>
            </a:r>
            <a:r>
              <a:rPr lang="en-US" sz="1200" b="0" i="0" dirty="0">
                <a:solidFill>
                  <a:srgbClr val="38BDF8"/>
                </a:solidFill>
                <a:effectLst/>
                <a:latin typeface="Fira Code" panose="020B0809050000020004" pitchFamily="49" charset="0"/>
              </a:rPr>
              <a:t>&lt;tr&gt;</a:t>
            </a:r>
            <a:r>
              <a:rPr lang="en-US" sz="1200" b="0" i="0" dirty="0">
                <a:solidFill>
                  <a:srgbClr val="E2E8F0"/>
                </a:solidFill>
                <a:effectLst/>
                <a:latin typeface="Fira Code" panose="020B0809050000020004" pitchFamily="49" charset="0"/>
              </a:rPr>
              <a:t> </a:t>
            </a:r>
            <a:r>
              <a:rPr lang="en-US" sz="1200" b="0" i="0" dirty="0">
                <a:solidFill>
                  <a:srgbClr val="38BDF8"/>
                </a:solidFill>
                <a:effectLst/>
                <a:latin typeface="Fira Code" panose="020B0809050000020004" pitchFamily="49" charset="0"/>
              </a:rPr>
              <a:t>&lt;td&gt;</a:t>
            </a:r>
            <a:r>
              <a:rPr lang="en-US" sz="1200" b="0" i="0" dirty="0">
                <a:solidFill>
                  <a:srgbClr val="E2E8F0"/>
                </a:solidFill>
                <a:effectLst/>
                <a:latin typeface="Fira Code" panose="020B0809050000020004" pitchFamily="49" charset="0"/>
              </a:rPr>
              <a:t>Alice</a:t>
            </a:r>
            <a:r>
              <a:rPr lang="en-US" sz="1200" b="0" i="0" dirty="0">
                <a:solidFill>
                  <a:srgbClr val="38BDF8"/>
                </a:solidFill>
                <a:effectLst/>
                <a:latin typeface="Fira Code" panose="020B0809050000020004" pitchFamily="49" charset="0"/>
              </a:rPr>
              <a:t>&lt;/td&gt;</a:t>
            </a:r>
            <a:r>
              <a:rPr lang="en-US" sz="1200" b="0" i="0" dirty="0">
                <a:solidFill>
                  <a:srgbClr val="E2E8F0"/>
                </a:solidFill>
                <a:effectLst/>
                <a:latin typeface="Fira Code" panose="020B0809050000020004" pitchFamily="49" charset="0"/>
              </a:rPr>
              <a:t> </a:t>
            </a:r>
            <a:r>
              <a:rPr lang="en-US" sz="1200" b="0" i="0" dirty="0">
                <a:solidFill>
                  <a:srgbClr val="38BDF8"/>
                </a:solidFill>
                <a:effectLst/>
                <a:latin typeface="Fira Code" panose="020B0809050000020004" pitchFamily="49" charset="0"/>
              </a:rPr>
              <a:t>&lt;td&gt;</a:t>
            </a:r>
            <a:r>
              <a:rPr lang="en-US" sz="1200" b="0" i="0" dirty="0">
                <a:solidFill>
                  <a:srgbClr val="E2E8F0"/>
                </a:solidFill>
                <a:effectLst/>
                <a:latin typeface="Fira Code" panose="020B0809050000020004" pitchFamily="49" charset="0"/>
              </a:rPr>
              <a:t>24</a:t>
            </a:r>
            <a:r>
              <a:rPr lang="en-US" sz="1200" b="0" i="0" dirty="0">
                <a:solidFill>
                  <a:srgbClr val="38BDF8"/>
                </a:solidFill>
                <a:effectLst/>
                <a:latin typeface="Fira Code" panose="020B0809050000020004" pitchFamily="49" charset="0"/>
              </a:rPr>
              <a:t>&lt;/td&gt;</a:t>
            </a:r>
            <a:r>
              <a:rPr lang="en-US" sz="1200" b="0" i="0" dirty="0">
                <a:solidFill>
                  <a:srgbClr val="E2E8F0"/>
                </a:solidFill>
                <a:effectLst/>
                <a:latin typeface="Fira Code" panose="020B0809050000020004" pitchFamily="49" charset="0"/>
              </a:rPr>
              <a:t> </a:t>
            </a:r>
            <a:r>
              <a:rPr lang="en-US" sz="1200" b="0" i="0" dirty="0">
                <a:solidFill>
                  <a:srgbClr val="38BDF8"/>
                </a:solidFill>
                <a:effectLst/>
                <a:latin typeface="Fira Code" panose="020B0809050000020004" pitchFamily="49" charset="0"/>
              </a:rPr>
              <a:t>&lt;/tr&gt;</a:t>
            </a:r>
            <a:r>
              <a:rPr lang="en-US" sz="1200" b="0" i="0" dirty="0">
                <a:solidFill>
                  <a:srgbClr val="E2E8F0"/>
                </a:solidFill>
                <a:effectLst/>
                <a:latin typeface="Fira Code" panose="020B0809050000020004" pitchFamily="49" charset="0"/>
              </a:rPr>
              <a:t> </a:t>
            </a:r>
            <a:r>
              <a:rPr lang="en-US" sz="1200" b="0" i="0" dirty="0">
                <a:solidFill>
                  <a:srgbClr val="38BDF8"/>
                </a:solidFill>
                <a:effectLst/>
                <a:latin typeface="Fira Code" panose="020B0809050000020004" pitchFamily="49" charset="0"/>
              </a:rPr>
              <a:t>&lt;/table&gt;</a:t>
            </a:r>
            <a:endParaRPr lang="en-US" sz="12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321EBD-0157-4EC5-9E73-89D40E47309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Prepared By MD Yeakob Ali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7D3E1E-0D0F-4F4D-B4A6-11CE1A1EC73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8" name="Google Shape;458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33"/>
          <p:cNvSpPr txBox="1"/>
          <p:nvPr/>
        </p:nvSpPr>
        <p:spPr>
          <a:xfrm>
            <a:off x="195262" y="516050"/>
            <a:ext cx="116014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FF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Advanced</a:t>
            </a:r>
            <a:r>
              <a:rPr lang="en-US" sz="3150" b="0" i="0" u="none" strike="noStrike" cap="none" dirty="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Table Features</a:t>
            </a: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8855075-16B7-4DB9-B5C4-C40F1F0AAC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0131134"/>
              </p:ext>
            </p:extLst>
          </p:nvPr>
        </p:nvGraphicFramePr>
        <p:xfrm>
          <a:off x="571500" y="2197463"/>
          <a:ext cx="11020425" cy="2898411"/>
        </p:xfrm>
        <a:graphic>
          <a:graphicData uri="http://schemas.openxmlformats.org/drawingml/2006/table">
            <a:tbl>
              <a:tblPr/>
              <a:tblGrid>
                <a:gridCol w="2204085">
                  <a:extLst>
                    <a:ext uri="{9D8B030D-6E8A-4147-A177-3AD203B41FA5}">
                      <a16:colId xmlns:a16="http://schemas.microsoft.com/office/drawing/2014/main" val="3036525643"/>
                    </a:ext>
                  </a:extLst>
                </a:gridCol>
                <a:gridCol w="2204085">
                  <a:extLst>
                    <a:ext uri="{9D8B030D-6E8A-4147-A177-3AD203B41FA5}">
                      <a16:colId xmlns:a16="http://schemas.microsoft.com/office/drawing/2014/main" val="1690186213"/>
                    </a:ext>
                  </a:extLst>
                </a:gridCol>
                <a:gridCol w="2204085">
                  <a:extLst>
                    <a:ext uri="{9D8B030D-6E8A-4147-A177-3AD203B41FA5}">
                      <a16:colId xmlns:a16="http://schemas.microsoft.com/office/drawing/2014/main" val="3465455224"/>
                    </a:ext>
                  </a:extLst>
                </a:gridCol>
                <a:gridCol w="2204085">
                  <a:extLst>
                    <a:ext uri="{9D8B030D-6E8A-4147-A177-3AD203B41FA5}">
                      <a16:colId xmlns:a16="http://schemas.microsoft.com/office/drawing/2014/main" val="667960006"/>
                    </a:ext>
                  </a:extLst>
                </a:gridCol>
                <a:gridCol w="2204085">
                  <a:extLst>
                    <a:ext uri="{9D8B030D-6E8A-4147-A177-3AD203B41FA5}">
                      <a16:colId xmlns:a16="http://schemas.microsoft.com/office/drawing/2014/main" val="3406739857"/>
                    </a:ext>
                  </a:extLst>
                </a:gridCol>
              </a:tblGrid>
              <a:tr h="927492">
                <a:tc>
                  <a:txBody>
                    <a:bodyPr/>
                    <a:lstStyle/>
                    <a:p>
                      <a:pPr algn="l"/>
                      <a:r>
                        <a:rPr lang="en-US" sz="1300" b="1" cap="all">
                          <a:solidFill>
                            <a:srgbClr val="0F172A"/>
                          </a:solidFill>
                          <a:effectLst/>
                          <a:latin typeface="Poppins" panose="00000500000000000000" pitchFamily="2" charset="0"/>
                        </a:rPr>
                        <a:t>ID</a:t>
                      </a:r>
                    </a:p>
                  </a:txBody>
                  <a:tcPr marL="213128" marR="213128" marT="142086" marB="1420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cap="all">
                          <a:solidFill>
                            <a:srgbClr val="0F172A"/>
                          </a:solidFill>
                          <a:effectLst/>
                          <a:latin typeface="Poppins" panose="00000500000000000000" pitchFamily="2" charset="0"/>
                        </a:rPr>
                        <a:t>Student Name</a:t>
                      </a:r>
                    </a:p>
                  </a:txBody>
                  <a:tcPr marL="213128" marR="213128" marT="142086" marB="1420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300" b="1" cap="all">
                          <a:solidFill>
                            <a:srgbClr val="0F172A"/>
                          </a:solidFill>
                          <a:effectLst/>
                          <a:latin typeface="Poppins" panose="00000500000000000000" pitchFamily="2" charset="0"/>
                        </a:rPr>
                        <a:t>Scores (Mid &amp; Final)</a:t>
                      </a:r>
                    </a:p>
                  </a:txBody>
                  <a:tcPr marL="213128" marR="213128" marT="142086" marB="1420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cap="all">
                          <a:solidFill>
                            <a:srgbClr val="0F172A"/>
                          </a:solidFill>
                          <a:effectLst/>
                          <a:latin typeface="Poppins" panose="00000500000000000000" pitchFamily="2" charset="0"/>
                        </a:rPr>
                        <a:t>Status</a:t>
                      </a:r>
                    </a:p>
                  </a:txBody>
                  <a:tcPr marL="213128" marR="213128" marT="142086" marB="1420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5103404"/>
                  </a:ext>
                </a:extLst>
              </a:tr>
              <a:tr h="656973">
                <a:tc>
                  <a:txBody>
                    <a:bodyPr/>
                    <a:lstStyle/>
                    <a:p>
                      <a:pPr algn="l"/>
                      <a:r>
                        <a:rPr lang="en-US" sz="1300">
                          <a:solidFill>
                            <a:srgbClr val="475569"/>
                          </a:solidFill>
                          <a:effectLst/>
                          <a:latin typeface="Inter" panose="020B0604020202020204" charset="0"/>
                        </a:rPr>
                        <a:t>101</a:t>
                      </a:r>
                    </a:p>
                  </a:txBody>
                  <a:tcPr marL="213128" marR="213128" marT="142086" marB="142086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>
                          <a:solidFill>
                            <a:srgbClr val="475569"/>
                          </a:solidFill>
                          <a:effectLst/>
                          <a:latin typeface="Inter" panose="020B0604020202020204" charset="0"/>
                        </a:rPr>
                        <a:t>John Doe</a:t>
                      </a:r>
                    </a:p>
                  </a:txBody>
                  <a:tcPr marL="213128" marR="213128" marT="142086" marB="142086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>
                          <a:solidFill>
                            <a:srgbClr val="475569"/>
                          </a:solidFill>
                          <a:effectLst/>
                          <a:latin typeface="Inter" panose="020B0604020202020204" charset="0"/>
                        </a:rPr>
                        <a:t>85</a:t>
                      </a:r>
                    </a:p>
                  </a:txBody>
                  <a:tcPr marL="213128" marR="213128" marT="142086" marB="142086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>
                          <a:solidFill>
                            <a:srgbClr val="475569"/>
                          </a:solidFill>
                          <a:effectLst/>
                          <a:latin typeface="Inter" panose="020B0604020202020204" charset="0"/>
                        </a:rPr>
                        <a:t>92</a:t>
                      </a:r>
                    </a:p>
                  </a:txBody>
                  <a:tcPr marL="213128" marR="213128" marT="142086" marB="142086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>
                          <a:solidFill>
                            <a:srgbClr val="475569"/>
                          </a:solidFill>
                          <a:effectLst/>
                          <a:latin typeface="Inter" panose="020B0604020202020204" charset="0"/>
                        </a:rPr>
                        <a:t> Pass</a:t>
                      </a:r>
                    </a:p>
                  </a:txBody>
                  <a:tcPr marL="213128" marR="213128" marT="142086" marB="142086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6373686"/>
                  </a:ext>
                </a:extLst>
              </a:tr>
              <a:tr h="656973">
                <a:tc>
                  <a:txBody>
                    <a:bodyPr/>
                    <a:lstStyle/>
                    <a:p>
                      <a:pPr algn="l"/>
                      <a:r>
                        <a:rPr lang="en-US" sz="1300">
                          <a:solidFill>
                            <a:srgbClr val="475569"/>
                          </a:solidFill>
                          <a:effectLst/>
                          <a:latin typeface="Inter" panose="020B0604020202020204" charset="0"/>
                        </a:rPr>
                        <a:t>102</a:t>
                      </a:r>
                    </a:p>
                  </a:txBody>
                  <a:tcPr marL="213128" marR="213128" marT="142086" marB="142086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>
                          <a:solidFill>
                            <a:srgbClr val="475569"/>
                          </a:solidFill>
                          <a:effectLst/>
                          <a:latin typeface="Inter" panose="020B0604020202020204" charset="0"/>
                        </a:rPr>
                        <a:t>Jane Smith</a:t>
                      </a:r>
                    </a:p>
                  </a:txBody>
                  <a:tcPr marL="213128" marR="213128" marT="142086" marB="142086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>
                          <a:solidFill>
                            <a:srgbClr val="475569"/>
                          </a:solidFill>
                          <a:effectLst/>
                          <a:latin typeface="Inter" panose="020B0604020202020204" charset="0"/>
                        </a:rPr>
                        <a:t>78</a:t>
                      </a:r>
                    </a:p>
                  </a:txBody>
                  <a:tcPr marL="213128" marR="213128" marT="142086" marB="142086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>
                          <a:solidFill>
                            <a:srgbClr val="475569"/>
                          </a:solidFill>
                          <a:effectLst/>
                          <a:latin typeface="Inter" panose="020B0604020202020204" charset="0"/>
                        </a:rPr>
                        <a:t>88</a:t>
                      </a:r>
                    </a:p>
                  </a:txBody>
                  <a:tcPr marL="213128" marR="213128" marT="142086" marB="142086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>
                          <a:solidFill>
                            <a:srgbClr val="475569"/>
                          </a:solidFill>
                          <a:effectLst/>
                          <a:latin typeface="Inter" panose="020B0604020202020204" charset="0"/>
                        </a:rPr>
                        <a:t> Pass</a:t>
                      </a:r>
                    </a:p>
                  </a:txBody>
                  <a:tcPr marL="213128" marR="213128" marT="142086" marB="142086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536814"/>
                  </a:ext>
                </a:extLst>
              </a:tr>
              <a:tr h="656973">
                <a:tc>
                  <a:txBody>
                    <a:bodyPr/>
                    <a:lstStyle/>
                    <a:p>
                      <a:pPr algn="l"/>
                      <a:r>
                        <a:rPr lang="en-US" sz="1300">
                          <a:solidFill>
                            <a:srgbClr val="475569"/>
                          </a:solidFill>
                          <a:effectLst/>
                          <a:latin typeface="Inter" panose="020B0604020202020204" charset="0"/>
                        </a:rPr>
                        <a:t>103</a:t>
                      </a:r>
                    </a:p>
                  </a:txBody>
                  <a:tcPr marL="213128" marR="213128" marT="142086" marB="142086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>
                          <a:solidFill>
                            <a:srgbClr val="475569"/>
                          </a:solidFill>
                          <a:effectLst/>
                          <a:latin typeface="Inter" panose="020B0604020202020204" charset="0"/>
                        </a:rPr>
                        <a:t>Alex Brown</a:t>
                      </a:r>
                    </a:p>
                  </a:txBody>
                  <a:tcPr marL="213128" marR="213128" marT="142086" marB="142086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300">
                          <a:solidFill>
                            <a:srgbClr val="EF4444"/>
                          </a:solidFill>
                          <a:effectLst/>
                          <a:latin typeface="Inter" panose="020B0604020202020204" charset="0"/>
                        </a:rPr>
                        <a:t>Absent</a:t>
                      </a:r>
                    </a:p>
                  </a:txBody>
                  <a:tcPr marL="213128" marR="213128" marT="142086" marB="142086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475569"/>
                          </a:solidFill>
                          <a:effectLst/>
                          <a:latin typeface="Inter" panose="020B0604020202020204" charset="0"/>
                        </a:rPr>
                        <a:t> Fail</a:t>
                      </a:r>
                    </a:p>
                  </a:txBody>
                  <a:tcPr marL="213128" marR="213128" marT="142086" marB="142086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8092861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B74AB923-AD05-476C-B89C-CD3048147F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" y="1162664"/>
            <a:ext cx="10848975" cy="78726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75569"/>
                </a:solidFill>
                <a:effectLst/>
                <a:latin typeface="Inter" panose="020B0604020202020204" charset="0"/>
                <a:cs typeface="Inter" panose="020B0604020202020204" charset="0"/>
              </a:rPr>
              <a:t>Use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Inter" panose="020B0604020202020204" charset="0"/>
                <a:cs typeface="Inter" panose="020B0604020202020204" charset="0"/>
              </a:rPr>
              <a:t>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 Unicode MS" panose="020B0604020202020204" pitchFamily="34" charset="-128"/>
                <a:cs typeface="Inter" panose="020B0604020202020204" charset="0"/>
              </a:rPr>
              <a:t>&lt;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B0F0"/>
                </a:solidFill>
                <a:effectLst/>
                <a:latin typeface="Arial Unicode MS" panose="020B0604020202020204" pitchFamily="34" charset="-128"/>
                <a:cs typeface="Inter" panose="020B0604020202020204" charset="0"/>
              </a:rPr>
              <a:t>thead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 Unicode MS" panose="020B0604020202020204" pitchFamily="34" charset="-128"/>
                <a:cs typeface="Inter" panose="020B0604020202020204" charset="0"/>
              </a:rPr>
              <a:t>&gt;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Inter" panose="020B0604020202020204" charset="0"/>
                <a:cs typeface="Inter" panose="020B0604020202020204" charset="0"/>
              </a:rPr>
              <a:t>,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 Unicode MS" panose="020B0604020202020204" pitchFamily="34" charset="-128"/>
                <a:cs typeface="Inter" panose="020B0604020202020204" charset="0"/>
              </a:rPr>
              <a:t>&lt;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B0F0"/>
                </a:solidFill>
                <a:effectLst/>
                <a:latin typeface="Arial Unicode MS" panose="020B0604020202020204" pitchFamily="34" charset="-128"/>
                <a:cs typeface="Inter" panose="020B0604020202020204" charset="0"/>
              </a:rPr>
              <a:t>tbody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 Unicode MS" panose="020B0604020202020204" pitchFamily="34" charset="-128"/>
                <a:cs typeface="Inter" panose="020B0604020202020204" charset="0"/>
              </a:rPr>
              <a:t>&gt;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Inter" panose="020B0604020202020204" charset="0"/>
                <a:cs typeface="Inter" panose="020B0604020202020204" charset="0"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75569"/>
                </a:solidFill>
                <a:effectLst/>
                <a:latin typeface="Inter" panose="020B0604020202020204" charset="0"/>
                <a:cs typeface="Inter" panose="020B0604020202020204" charset="0"/>
              </a:rPr>
              <a:t>and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 Unicode MS" panose="020B0604020202020204" pitchFamily="34" charset="-128"/>
                <a:cs typeface="Inter" panose="020B0604020202020204" charset="0"/>
              </a:rPr>
              <a:t>&lt;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B0F0"/>
                </a:solidFill>
                <a:effectLst/>
                <a:latin typeface="Arial Unicode MS" panose="020B0604020202020204" pitchFamily="34" charset="-128"/>
                <a:cs typeface="Inter" panose="020B0604020202020204" charset="0"/>
              </a:rPr>
              <a:t>tfoot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 Unicode MS" panose="020B0604020202020204" pitchFamily="34" charset="-128"/>
                <a:cs typeface="Inter" panose="020B0604020202020204" charset="0"/>
              </a:rPr>
              <a:t>&gt;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Inter" panose="020B0604020202020204" charset="0"/>
                <a:cs typeface="Inter" panose="020B0604020202020204" charset="0"/>
              </a:rPr>
              <a:t>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75569"/>
                </a:solidFill>
                <a:effectLst/>
                <a:latin typeface="Inter" panose="020B0604020202020204" charset="0"/>
                <a:cs typeface="Inter" panose="020B0604020202020204" charset="0"/>
              </a:rPr>
              <a:t>to group sections. Use 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475569"/>
                </a:solidFill>
                <a:effectLst/>
                <a:latin typeface="Arial Unicode MS" panose="020B0604020202020204" pitchFamily="34" charset="-128"/>
                <a:cs typeface="Inter" panose="020B0604020202020204" charset="0"/>
              </a:rPr>
              <a:t>colspan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75569"/>
                </a:solidFill>
                <a:effectLst/>
                <a:latin typeface="Inter" panose="020B0604020202020204" charset="0"/>
                <a:cs typeface="Inter" panose="020B0604020202020204" charset="0"/>
              </a:rPr>
              <a:t> and 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475569"/>
                </a:solidFill>
                <a:effectLst/>
                <a:latin typeface="Arial Unicode MS" panose="020B0604020202020204" pitchFamily="34" charset="-128"/>
                <a:cs typeface="Inter" panose="020B0604020202020204" charset="0"/>
              </a:rPr>
              <a:t>rowspan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75569"/>
                </a:solidFill>
                <a:effectLst/>
                <a:latin typeface="Inter" panose="020B0604020202020204" charset="0"/>
                <a:cs typeface="Inter" panose="020B0604020202020204" charset="0"/>
              </a:rPr>
              <a:t> attributes on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 Unicode MS" panose="020B0604020202020204" pitchFamily="34" charset="-128"/>
                <a:cs typeface="Inter" panose="020B0604020202020204" charset="0"/>
              </a:rPr>
              <a:t>&lt;td&gt;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Inter" panose="020B0604020202020204" charset="0"/>
                <a:cs typeface="Inter" panose="020B0604020202020204" charset="0"/>
              </a:rPr>
              <a:t> or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 Unicode MS" panose="020B0604020202020204" pitchFamily="34" charset="-128"/>
                <a:cs typeface="Inter" panose="020B0604020202020204" charset="0"/>
              </a:rPr>
              <a:t>&lt;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B0F0"/>
                </a:solidFill>
                <a:effectLst/>
                <a:latin typeface="Arial Unicode MS" panose="020B0604020202020204" pitchFamily="34" charset="-128"/>
                <a:cs typeface="Inter" panose="020B0604020202020204" charset="0"/>
              </a:rPr>
              <a:t>th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 Unicode MS" panose="020B0604020202020204" pitchFamily="34" charset="-128"/>
                <a:cs typeface="Inter" panose="020B0604020202020204" charset="0"/>
              </a:rPr>
              <a:t>&gt;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Inter" panose="020B0604020202020204" charset="0"/>
                <a:cs typeface="Inter" panose="020B0604020202020204" charset="0"/>
              </a:rPr>
              <a:t>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75569"/>
                </a:solidFill>
                <a:effectLst/>
                <a:latin typeface="Inter" panose="020B0604020202020204" charset="0"/>
                <a:cs typeface="Inter" panose="020B0604020202020204" charset="0"/>
              </a:rPr>
              <a:t>to merge cells across multiple columns or rows.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AB2E04-DA9C-4576-AD98-2575FA1F5AC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Prepared By MD Yeakob Ali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4EE725-41AD-4CE7-A7DB-AC5102B4D68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7" name="Google Shape;487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34"/>
          <p:cNvSpPr txBox="1"/>
          <p:nvPr/>
        </p:nvSpPr>
        <p:spPr>
          <a:xfrm>
            <a:off x="3864768" y="2838069"/>
            <a:ext cx="4462463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HTML </a:t>
            </a:r>
            <a:r>
              <a:rPr lang="en-US" sz="2400" b="1" i="0" u="none" strike="noStrike" cap="none" dirty="0">
                <a:solidFill>
                  <a:srgbClr val="FF0000"/>
                </a:solidFill>
                <a:latin typeface="Inter"/>
                <a:ea typeface="Inter"/>
                <a:cs typeface="Inter"/>
                <a:sym typeface="Inter"/>
              </a:rPr>
              <a:t>Forms and User Input</a:t>
            </a:r>
            <a:endParaRPr sz="1800" b="1" dirty="0">
              <a:solidFill>
                <a:srgbClr val="FF0000"/>
              </a:solidFill>
            </a:endParaRPr>
          </a:p>
        </p:txBody>
      </p:sp>
      <p:sp>
        <p:nvSpPr>
          <p:cNvPr id="490" name="Google Shape;490;p34"/>
          <p:cNvSpPr/>
          <p:nvPr/>
        </p:nvSpPr>
        <p:spPr>
          <a:xfrm>
            <a:off x="5381625" y="3578423"/>
            <a:ext cx="142875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523F4C-0168-4F9D-B384-034633F8CDE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Prepared By MD Yeakob Ali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168017-8160-4AAC-A7D0-F003DD1724D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5" name="Google Shape;495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55257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35"/>
          <p:cNvSpPr txBox="1"/>
          <p:nvPr/>
        </p:nvSpPr>
        <p:spPr>
          <a:xfrm>
            <a:off x="571500" y="1552575"/>
            <a:ext cx="5286375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Forms are how users send data to a web server. They are wrapped in the  tag.</a:t>
            </a:r>
            <a:endParaRPr sz="1600"/>
          </a:p>
        </p:txBody>
      </p:sp>
      <p:sp>
        <p:nvSpPr>
          <p:cNvPr id="499" name="Google Shape;499;p35"/>
          <p:cNvSpPr txBox="1"/>
          <p:nvPr/>
        </p:nvSpPr>
        <p:spPr>
          <a:xfrm>
            <a:off x="581025" y="2328802"/>
            <a:ext cx="9525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600"/>
          </a:p>
        </p:txBody>
      </p:sp>
      <p:sp>
        <p:nvSpPr>
          <p:cNvPr id="500" name="Google Shape;500;p35"/>
          <p:cNvSpPr txBox="1"/>
          <p:nvPr/>
        </p:nvSpPr>
        <p:spPr>
          <a:xfrm>
            <a:off x="809625" y="2244030"/>
            <a:ext cx="504825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action:</a:t>
            </a:r>
            <a:r>
              <a:rPr lang="en-US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Specifies the URL where the form data is sent.</a:t>
            </a:r>
            <a:endParaRPr sz="1600"/>
          </a:p>
        </p:txBody>
      </p:sp>
      <p:sp>
        <p:nvSpPr>
          <p:cNvPr id="501" name="Google Shape;501;p35"/>
          <p:cNvSpPr txBox="1"/>
          <p:nvPr/>
        </p:nvSpPr>
        <p:spPr>
          <a:xfrm>
            <a:off x="581025" y="2745968"/>
            <a:ext cx="9525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600"/>
          </a:p>
        </p:txBody>
      </p:sp>
      <p:sp>
        <p:nvSpPr>
          <p:cNvPr id="502" name="Google Shape;502;p35"/>
          <p:cNvSpPr txBox="1"/>
          <p:nvPr/>
        </p:nvSpPr>
        <p:spPr>
          <a:xfrm>
            <a:off x="809625" y="2661195"/>
            <a:ext cx="504825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method:</a:t>
            </a:r>
            <a:r>
              <a:rPr lang="en-US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Specifies the HTTP method (GET or POST).</a:t>
            </a:r>
            <a:endParaRPr sz="1600"/>
          </a:p>
        </p:txBody>
      </p:sp>
      <p:pic>
        <p:nvPicPr>
          <p:cNvPr id="511" name="Google Shape;511;p3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562100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35"/>
          <p:cNvSpPr txBox="1"/>
          <p:nvPr/>
        </p:nvSpPr>
        <p:spPr>
          <a:xfrm>
            <a:off x="847725" y="3125033"/>
            <a:ext cx="9525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600"/>
          </a:p>
        </p:txBody>
      </p:sp>
      <p:sp>
        <p:nvSpPr>
          <p:cNvPr id="513" name="Google Shape;513;p35"/>
          <p:cNvSpPr txBox="1"/>
          <p:nvPr/>
        </p:nvSpPr>
        <p:spPr>
          <a:xfrm>
            <a:off x="1047750" y="3087885"/>
            <a:ext cx="4810125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1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GET</a:t>
            </a:r>
            <a:r>
              <a:rPr lang="en-US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appends data to the URL (good for searches).</a:t>
            </a:r>
            <a:endParaRPr sz="1600"/>
          </a:p>
        </p:txBody>
      </p:sp>
      <p:sp>
        <p:nvSpPr>
          <p:cNvPr id="514" name="Google Shape;514;p35"/>
          <p:cNvSpPr txBox="1"/>
          <p:nvPr/>
        </p:nvSpPr>
        <p:spPr>
          <a:xfrm>
            <a:off x="847725" y="3513623"/>
            <a:ext cx="9525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600"/>
          </a:p>
        </p:txBody>
      </p:sp>
      <p:sp>
        <p:nvSpPr>
          <p:cNvPr id="515" name="Google Shape;515;p35"/>
          <p:cNvSpPr txBox="1"/>
          <p:nvPr/>
        </p:nvSpPr>
        <p:spPr>
          <a:xfrm>
            <a:off x="1047750" y="3476476"/>
            <a:ext cx="4810125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1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POST</a:t>
            </a:r>
            <a:r>
              <a:rPr lang="en-US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sends data invisibly in the request body (good for sensitive data/logins).</a:t>
            </a:r>
            <a:endParaRPr sz="1600"/>
          </a:p>
        </p:txBody>
      </p:sp>
      <p:sp>
        <p:nvSpPr>
          <p:cNvPr id="516" name="Google Shape;516;p35"/>
          <p:cNvSpPr txBox="1"/>
          <p:nvPr/>
        </p:nvSpPr>
        <p:spPr>
          <a:xfrm>
            <a:off x="571500" y="809625"/>
            <a:ext cx="116014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Building </a:t>
            </a:r>
            <a:r>
              <a:rPr lang="en-US" sz="3150" b="0" i="0" u="none" strike="noStrike" cap="none" dirty="0">
                <a:solidFill>
                  <a:srgbClr val="FF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Forms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5D4F298-0615-468A-8C9C-51CAB64C7855}"/>
              </a:ext>
            </a:extLst>
          </p:cNvPr>
          <p:cNvSpPr txBox="1"/>
          <p:nvPr/>
        </p:nvSpPr>
        <p:spPr>
          <a:xfrm>
            <a:off x="628650" y="4409315"/>
            <a:ext cx="5591175" cy="73866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38BDF8"/>
                </a:solidFill>
                <a:effectLst/>
                <a:latin typeface="Fira Code" panose="020B0809050000020004" pitchFamily="49" charset="0"/>
              </a:rPr>
              <a:t>&lt;form</a:t>
            </a:r>
            <a:r>
              <a:rPr lang="en-US" b="0" i="0" dirty="0">
                <a:solidFill>
                  <a:srgbClr val="E2E8F0"/>
                </a:solidFill>
                <a:effectLst/>
                <a:latin typeface="Fira Code" panose="020B0809050000020004" pitchFamily="49" charset="0"/>
              </a:rPr>
              <a:t> </a:t>
            </a:r>
            <a:r>
              <a:rPr lang="en-US" b="0" i="0" dirty="0">
                <a:solidFill>
                  <a:srgbClr val="A78BFA"/>
                </a:solidFill>
                <a:effectLst/>
                <a:latin typeface="Fira Code" panose="020B0809050000020004" pitchFamily="49" charset="0"/>
              </a:rPr>
              <a:t>action=</a:t>
            </a:r>
            <a:r>
              <a:rPr lang="en-US" b="0" i="0" dirty="0">
                <a:solidFill>
                  <a:srgbClr val="A3E635"/>
                </a:solidFill>
                <a:effectLst/>
                <a:latin typeface="Fira Code" panose="020B0809050000020004" pitchFamily="49" charset="0"/>
              </a:rPr>
              <a:t>"/submit"</a:t>
            </a:r>
            <a:r>
              <a:rPr lang="en-US" b="0" i="0" dirty="0">
                <a:solidFill>
                  <a:srgbClr val="E2E8F0"/>
                </a:solidFill>
                <a:effectLst/>
                <a:latin typeface="Fira Code" panose="020B0809050000020004" pitchFamily="49" charset="0"/>
              </a:rPr>
              <a:t> </a:t>
            </a:r>
            <a:r>
              <a:rPr lang="en-US" b="0" i="0" dirty="0">
                <a:solidFill>
                  <a:srgbClr val="A78BFA"/>
                </a:solidFill>
                <a:effectLst/>
                <a:latin typeface="Fira Code" panose="020B0809050000020004" pitchFamily="49" charset="0"/>
              </a:rPr>
              <a:t>method=</a:t>
            </a:r>
            <a:r>
              <a:rPr lang="en-US" b="0" i="0" dirty="0">
                <a:solidFill>
                  <a:srgbClr val="A3E635"/>
                </a:solidFill>
                <a:effectLst/>
                <a:latin typeface="Fira Code" panose="020B0809050000020004" pitchFamily="49" charset="0"/>
              </a:rPr>
              <a:t>"POST"</a:t>
            </a:r>
            <a:r>
              <a:rPr lang="en-US" b="0" i="0" dirty="0">
                <a:solidFill>
                  <a:srgbClr val="38BDF8"/>
                </a:solidFill>
                <a:effectLst/>
                <a:latin typeface="Fira Code" panose="020B0809050000020004" pitchFamily="49" charset="0"/>
              </a:rPr>
              <a:t>&gt;</a:t>
            </a:r>
            <a:r>
              <a:rPr lang="en-US" b="0" i="0" dirty="0">
                <a:solidFill>
                  <a:srgbClr val="E2E8F0"/>
                </a:solidFill>
                <a:effectLst/>
                <a:latin typeface="Fira Code" panose="020B0809050000020004" pitchFamily="49" charset="0"/>
              </a:rPr>
              <a:t> </a:t>
            </a:r>
          </a:p>
          <a:p>
            <a:r>
              <a:rPr lang="en-US" b="0" i="1" dirty="0">
                <a:solidFill>
                  <a:srgbClr val="64748B"/>
                </a:solidFill>
                <a:effectLst/>
                <a:latin typeface="Fira Code" panose="020B0809050000020004" pitchFamily="49" charset="0"/>
              </a:rPr>
              <a:t>&lt;!-- Input fields go here --&gt;</a:t>
            </a:r>
            <a:r>
              <a:rPr lang="en-US" b="0" i="0" dirty="0">
                <a:solidFill>
                  <a:srgbClr val="E2E8F0"/>
                </a:solidFill>
                <a:effectLst/>
                <a:latin typeface="Fira Code" panose="020B0809050000020004" pitchFamily="49" charset="0"/>
              </a:rPr>
              <a:t> </a:t>
            </a:r>
            <a:r>
              <a:rPr lang="en-US" b="0" i="0" dirty="0">
                <a:solidFill>
                  <a:srgbClr val="38BDF8"/>
                </a:solidFill>
                <a:effectLst/>
                <a:latin typeface="Fira Code" panose="020B0809050000020004" pitchFamily="49" charset="0"/>
              </a:rPr>
              <a:t>&lt;button</a:t>
            </a:r>
            <a:r>
              <a:rPr lang="en-US" b="0" i="0" dirty="0">
                <a:solidFill>
                  <a:srgbClr val="E2E8F0"/>
                </a:solidFill>
                <a:effectLst/>
                <a:latin typeface="Fira Code" panose="020B0809050000020004" pitchFamily="49" charset="0"/>
              </a:rPr>
              <a:t> </a:t>
            </a:r>
            <a:r>
              <a:rPr lang="en-US" b="0" i="0" dirty="0">
                <a:solidFill>
                  <a:srgbClr val="A78BFA"/>
                </a:solidFill>
                <a:effectLst/>
                <a:latin typeface="Fira Code" panose="020B0809050000020004" pitchFamily="49" charset="0"/>
              </a:rPr>
              <a:t>type=</a:t>
            </a:r>
            <a:r>
              <a:rPr lang="en-US" b="0" i="0" dirty="0">
                <a:solidFill>
                  <a:srgbClr val="A3E635"/>
                </a:solidFill>
                <a:effectLst/>
                <a:latin typeface="Fira Code" panose="020B0809050000020004" pitchFamily="49" charset="0"/>
              </a:rPr>
              <a:t>"submit"</a:t>
            </a:r>
            <a:r>
              <a:rPr lang="en-US" b="0" i="0" dirty="0">
                <a:solidFill>
                  <a:srgbClr val="38BDF8"/>
                </a:solidFill>
                <a:effectLst/>
                <a:latin typeface="Fira Code" panose="020B0809050000020004" pitchFamily="49" charset="0"/>
              </a:rPr>
              <a:t>&gt;</a:t>
            </a:r>
            <a:r>
              <a:rPr lang="en-US" b="0" i="0" dirty="0">
                <a:solidFill>
                  <a:srgbClr val="E2E8F0"/>
                </a:solidFill>
                <a:effectLst/>
                <a:latin typeface="Fira Code" panose="020B0809050000020004" pitchFamily="49" charset="0"/>
              </a:rPr>
              <a:t>Send</a:t>
            </a:r>
            <a:r>
              <a:rPr lang="en-US" b="0" i="0" dirty="0">
                <a:solidFill>
                  <a:srgbClr val="38BDF8"/>
                </a:solidFill>
                <a:effectLst/>
                <a:latin typeface="Fira Code" panose="020B0809050000020004" pitchFamily="49" charset="0"/>
              </a:rPr>
              <a:t>&lt;/button&gt;</a:t>
            </a:r>
            <a:r>
              <a:rPr lang="en-US" b="0" i="0" dirty="0">
                <a:solidFill>
                  <a:srgbClr val="E2E8F0"/>
                </a:solidFill>
                <a:effectLst/>
                <a:latin typeface="Fira Code" panose="020B0809050000020004" pitchFamily="49" charset="0"/>
              </a:rPr>
              <a:t> </a:t>
            </a:r>
            <a:r>
              <a:rPr lang="en-US" b="0" i="0" dirty="0">
                <a:solidFill>
                  <a:srgbClr val="38BDF8"/>
                </a:solidFill>
                <a:effectLst/>
                <a:latin typeface="Fira Code" panose="020B0809050000020004" pitchFamily="49" charset="0"/>
              </a:rPr>
              <a:t>&lt;/form&gt;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F1BD20-4F35-4691-B60D-61A051F799B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Prepared By MD Yeakob Ali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5F4E4D-74E8-4003-B2C1-3BF98BB30BA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8" name="Google Shape;528;p3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09700" y="1438275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9" name="Google Shape;529;p3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57324" y="1857893"/>
            <a:ext cx="1619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0" name="Google Shape;530;p3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28748" y="230099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1" name="Google Shape;531;p3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62087" y="316370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2" name="Google Shape;532;p3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476374" y="4002941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3" name="Google Shape;533;p3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476374" y="4842177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36"/>
          <p:cNvSpPr txBox="1"/>
          <p:nvPr/>
        </p:nvSpPr>
        <p:spPr>
          <a:xfrm>
            <a:off x="295275" y="533909"/>
            <a:ext cx="116014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Common </a:t>
            </a:r>
            <a:r>
              <a:rPr lang="en-US" sz="3150" b="0" i="0" u="none" strike="noStrike" cap="none" dirty="0">
                <a:solidFill>
                  <a:srgbClr val="FF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Input Types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A5AC5B4-A671-4D8C-B1DD-B01147CEBCD8}"/>
              </a:ext>
            </a:extLst>
          </p:cNvPr>
          <p:cNvSpPr txBox="1"/>
          <p:nvPr/>
        </p:nvSpPr>
        <p:spPr>
          <a:xfrm>
            <a:off x="1809750" y="1271449"/>
            <a:ext cx="8572500" cy="3903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&lt;input type="text"&gt;: A standard single-line text field. Use the placeholder attribute to give users a hint.</a:t>
            </a:r>
          </a:p>
          <a:p>
            <a:pPr>
              <a:lnSpc>
                <a:spcPct val="200000"/>
              </a:lnSpc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&lt;input type="password"&gt;: Masks the characters as they are typed (e.g., shows dots or asterisks).</a:t>
            </a:r>
          </a:p>
          <a:p>
            <a:pPr>
              <a:lnSpc>
                <a:spcPct val="200000"/>
              </a:lnSpc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&lt;input type="email"&gt;: Automatically validates that the input is a properly formatted email address before submission.</a:t>
            </a:r>
          </a:p>
          <a:p>
            <a:pPr>
              <a:lnSpc>
                <a:spcPct val="200000"/>
              </a:lnSpc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&lt;input type="radio"&gt;: Radio buttons let a user select ONLY ONE of a limited number of choices (must share the same name attribute).</a:t>
            </a:r>
          </a:p>
          <a:p>
            <a:pPr>
              <a:lnSpc>
                <a:spcPct val="200000"/>
              </a:lnSpc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&lt;input type="checkbox"&gt;: Checkboxes let a user select ZERO or MORE options of a limited number of choices.</a:t>
            </a:r>
          </a:p>
          <a:p>
            <a:pPr>
              <a:lnSpc>
                <a:spcPct val="200000"/>
              </a:lnSpc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&lt;input type="submit"&gt;: Defines a button for submitting the form data to a form-handler.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DCF6AC-8D78-473A-9758-2F7E2B7F287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Prepared By MD Yeakob Ali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6F12DC-8024-48CA-A2AA-C4A66C59C2C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9" name="Google Shape;539;p3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0" name="Google Shape;540;p3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52575"/>
            <a:ext cx="3492549" cy="430708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1" name="Google Shape;541;p3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1552575"/>
            <a:ext cx="3492549" cy="430708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2" name="Google Shape;542;p3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1552575"/>
            <a:ext cx="3492549" cy="4307085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37"/>
          <p:cNvSpPr txBox="1"/>
          <p:nvPr/>
        </p:nvSpPr>
        <p:spPr>
          <a:xfrm>
            <a:off x="914400" y="2619375"/>
            <a:ext cx="1250156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Textarea</a:t>
            </a:r>
            <a:endParaRPr/>
          </a:p>
        </p:txBody>
      </p:sp>
      <p:sp>
        <p:nvSpPr>
          <p:cNvPr id="547" name="Google Shape;547;p37"/>
          <p:cNvSpPr txBox="1"/>
          <p:nvPr/>
        </p:nvSpPr>
        <p:spPr>
          <a:xfrm>
            <a:off x="914400" y="3162300"/>
            <a:ext cx="2806749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Defines a multi-line text input control. Useful for comments or messages. Set dimensions via rows and cols attributes.</a:t>
            </a:r>
            <a:endParaRPr/>
          </a:p>
        </p:txBody>
      </p:sp>
      <p:sp>
        <p:nvSpPr>
          <p:cNvPr id="548" name="Google Shape;548;p37"/>
          <p:cNvSpPr txBox="1"/>
          <p:nvPr/>
        </p:nvSpPr>
        <p:spPr>
          <a:xfrm>
            <a:off x="4692699" y="2619375"/>
            <a:ext cx="2190273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Select &amp; Option</a:t>
            </a:r>
            <a:endParaRPr/>
          </a:p>
        </p:txBody>
      </p:sp>
      <p:sp>
        <p:nvSpPr>
          <p:cNvPr id="549" name="Google Shape;549;p37"/>
          <p:cNvSpPr txBox="1"/>
          <p:nvPr/>
        </p:nvSpPr>
        <p:spPr>
          <a:xfrm>
            <a:off x="4692699" y="3162300"/>
            <a:ext cx="2806749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Defines a drop-down list. The  tags define the available options inside the list.</a:t>
            </a:r>
            <a:endParaRPr/>
          </a:p>
        </p:txBody>
      </p:sp>
      <p:sp>
        <p:nvSpPr>
          <p:cNvPr id="550" name="Google Shape;550;p37"/>
          <p:cNvSpPr txBox="1"/>
          <p:nvPr/>
        </p:nvSpPr>
        <p:spPr>
          <a:xfrm>
            <a:off x="8470999" y="2619375"/>
            <a:ext cx="76009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Label</a:t>
            </a:r>
            <a:endParaRPr/>
          </a:p>
        </p:txBody>
      </p:sp>
      <p:sp>
        <p:nvSpPr>
          <p:cNvPr id="551" name="Google Shape;551;p37"/>
          <p:cNvSpPr txBox="1"/>
          <p:nvPr/>
        </p:nvSpPr>
        <p:spPr>
          <a:xfrm>
            <a:off x="8470999" y="3162300"/>
            <a:ext cx="2806749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Provides a usability improvement. When clicking the label text, it toggles the bound input. Bound using for and id attributes.</a:t>
            </a:r>
            <a:endParaRPr/>
          </a:p>
        </p:txBody>
      </p:sp>
      <p:pic>
        <p:nvPicPr>
          <p:cNvPr id="552" name="Google Shape;552;p3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95500" y="1933575"/>
            <a:ext cx="35242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6" name="Google Shape;556;p3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73799" y="1933575"/>
            <a:ext cx="2476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0" name="Google Shape;560;p3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52099" y="1933575"/>
            <a:ext cx="352425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37"/>
          <p:cNvSpPr txBox="1"/>
          <p:nvPr/>
        </p:nvSpPr>
        <p:spPr>
          <a:xfrm>
            <a:off x="295275" y="554235"/>
            <a:ext cx="116014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FF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Advanced</a:t>
            </a:r>
            <a:r>
              <a:rPr lang="en-US" sz="3150" b="0" i="0" u="none" strike="noStrike" cap="none" dirty="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Form Elements</a:t>
            </a:r>
            <a:endParaRPr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F10E21F-FE9C-43A8-A7BD-436AEF2BDE80}"/>
              </a:ext>
            </a:extLst>
          </p:cNvPr>
          <p:cNvSpPr txBox="1"/>
          <p:nvPr/>
        </p:nvSpPr>
        <p:spPr>
          <a:xfrm>
            <a:off x="914400" y="4674125"/>
            <a:ext cx="2864047" cy="70795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b="0" i="0" dirty="0">
                <a:solidFill>
                  <a:srgbClr val="38BDF8"/>
                </a:solidFill>
                <a:effectLst/>
                <a:latin typeface="Fira Code" panose="020B0809050000020004" pitchFamily="49" charset="0"/>
              </a:rPr>
              <a:t>&lt;textarea</a:t>
            </a:r>
            <a:r>
              <a:rPr lang="pt-BR" b="0" i="0" dirty="0">
                <a:solidFill>
                  <a:srgbClr val="E2E8F0"/>
                </a:solidFill>
                <a:effectLst/>
                <a:latin typeface="Fira Code" panose="020B0809050000020004" pitchFamily="49" charset="0"/>
              </a:rPr>
              <a:t> </a:t>
            </a:r>
            <a:r>
              <a:rPr lang="pt-BR" b="0" i="0" dirty="0">
                <a:solidFill>
                  <a:srgbClr val="A78BFA"/>
                </a:solidFill>
                <a:effectLst/>
                <a:latin typeface="Fira Code" panose="020B0809050000020004" pitchFamily="49" charset="0"/>
              </a:rPr>
              <a:t>rows=</a:t>
            </a:r>
            <a:r>
              <a:rPr lang="pt-BR" b="0" i="0" dirty="0">
                <a:solidFill>
                  <a:srgbClr val="A3E635"/>
                </a:solidFill>
                <a:effectLst/>
                <a:latin typeface="Fira Code" panose="020B0809050000020004" pitchFamily="49" charset="0"/>
              </a:rPr>
              <a:t>"4"</a:t>
            </a:r>
            <a:r>
              <a:rPr lang="pt-BR" b="0" i="0" dirty="0">
                <a:solidFill>
                  <a:srgbClr val="38BDF8"/>
                </a:solidFill>
                <a:effectLst/>
                <a:latin typeface="Fira Code" panose="020B0809050000020004" pitchFamily="49" charset="0"/>
              </a:rPr>
              <a:t>&gt;</a:t>
            </a:r>
            <a:r>
              <a:rPr lang="pt-BR" b="0" i="0" dirty="0">
                <a:solidFill>
                  <a:srgbClr val="E2E8F0"/>
                </a:solidFill>
                <a:effectLst/>
                <a:latin typeface="Fira Code" panose="020B0809050000020004" pitchFamily="49" charset="0"/>
              </a:rPr>
              <a:t> Enter message... </a:t>
            </a:r>
            <a:r>
              <a:rPr lang="pt-BR" b="0" i="0" dirty="0">
                <a:solidFill>
                  <a:srgbClr val="38BDF8"/>
                </a:solidFill>
                <a:effectLst/>
                <a:latin typeface="Fira Code" panose="020B0809050000020004" pitchFamily="49" charset="0"/>
              </a:rPr>
              <a:t>&lt;/textarea&gt;</a:t>
            </a:r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9FBB818-1264-4618-972A-BF704059DB00}"/>
              </a:ext>
            </a:extLst>
          </p:cNvPr>
          <p:cNvSpPr txBox="1"/>
          <p:nvPr/>
        </p:nvSpPr>
        <p:spPr>
          <a:xfrm>
            <a:off x="4689425" y="4381915"/>
            <a:ext cx="2864047" cy="103111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0" i="0" dirty="0">
                <a:solidFill>
                  <a:srgbClr val="38BDF8"/>
                </a:solidFill>
                <a:effectLst/>
                <a:latin typeface="Fira Code" panose="020B0809050000020004" pitchFamily="49" charset="0"/>
              </a:rPr>
              <a:t>&lt;select</a:t>
            </a:r>
            <a:r>
              <a:rPr lang="en-US" b="0" i="0" dirty="0">
                <a:solidFill>
                  <a:srgbClr val="E2E8F0"/>
                </a:solidFill>
                <a:effectLst/>
                <a:latin typeface="Fira Code" panose="020B0809050000020004" pitchFamily="49" charset="0"/>
              </a:rPr>
              <a:t> </a:t>
            </a:r>
            <a:r>
              <a:rPr lang="en-US" b="0" i="0" dirty="0">
                <a:solidFill>
                  <a:srgbClr val="A78BFA"/>
                </a:solidFill>
                <a:effectLst/>
                <a:latin typeface="Fira Code" panose="020B0809050000020004" pitchFamily="49" charset="0"/>
              </a:rPr>
              <a:t>name=</a:t>
            </a:r>
            <a:r>
              <a:rPr lang="en-US" b="0" i="0" dirty="0">
                <a:solidFill>
                  <a:srgbClr val="A3E635"/>
                </a:solidFill>
                <a:effectLst/>
                <a:latin typeface="Fira Code" panose="020B0809050000020004" pitchFamily="49" charset="0"/>
              </a:rPr>
              <a:t>"cars"</a:t>
            </a:r>
            <a:r>
              <a:rPr lang="en-US" b="0" i="0" dirty="0">
                <a:solidFill>
                  <a:srgbClr val="38BDF8"/>
                </a:solidFill>
                <a:effectLst/>
                <a:latin typeface="Fira Code" panose="020B0809050000020004" pitchFamily="49" charset="0"/>
              </a:rPr>
              <a:t>&gt;</a:t>
            </a:r>
            <a:r>
              <a:rPr lang="en-US" b="0" i="0" dirty="0">
                <a:solidFill>
                  <a:srgbClr val="E2E8F0"/>
                </a:solidFill>
                <a:effectLst/>
                <a:latin typeface="Fira Code" panose="020B0809050000020004" pitchFamily="49" charset="0"/>
              </a:rPr>
              <a:t> </a:t>
            </a:r>
            <a:r>
              <a:rPr lang="en-US" b="0" i="0" dirty="0">
                <a:solidFill>
                  <a:srgbClr val="38BDF8"/>
                </a:solidFill>
                <a:effectLst/>
                <a:latin typeface="Fira Code" panose="020B0809050000020004" pitchFamily="49" charset="0"/>
              </a:rPr>
              <a:t>&lt;option&gt;</a:t>
            </a:r>
            <a:r>
              <a:rPr lang="en-US" b="0" i="0" dirty="0">
                <a:solidFill>
                  <a:srgbClr val="E2E8F0"/>
                </a:solidFill>
                <a:effectLst/>
                <a:latin typeface="Fira Code" panose="020B0809050000020004" pitchFamily="49" charset="0"/>
              </a:rPr>
              <a:t>Volvo</a:t>
            </a:r>
            <a:r>
              <a:rPr lang="en-US" b="0" i="0" dirty="0">
                <a:solidFill>
                  <a:srgbClr val="38BDF8"/>
                </a:solidFill>
                <a:effectLst/>
                <a:latin typeface="Fira Code" panose="020B0809050000020004" pitchFamily="49" charset="0"/>
              </a:rPr>
              <a:t>&lt;/option&gt;</a:t>
            </a:r>
            <a:r>
              <a:rPr lang="en-US" b="0" i="0" dirty="0">
                <a:solidFill>
                  <a:srgbClr val="E2E8F0"/>
                </a:solidFill>
                <a:effectLst/>
                <a:latin typeface="Fira Code" panose="020B0809050000020004" pitchFamily="49" charset="0"/>
              </a:rPr>
              <a:t> </a:t>
            </a:r>
            <a:r>
              <a:rPr lang="en-US" b="0" i="0" dirty="0">
                <a:solidFill>
                  <a:srgbClr val="38BDF8"/>
                </a:solidFill>
                <a:effectLst/>
                <a:latin typeface="Fira Code" panose="020B0809050000020004" pitchFamily="49" charset="0"/>
              </a:rPr>
              <a:t>&lt;option&gt;</a:t>
            </a:r>
            <a:r>
              <a:rPr lang="en-US" b="0" i="0" dirty="0">
                <a:solidFill>
                  <a:srgbClr val="E2E8F0"/>
                </a:solidFill>
                <a:effectLst/>
                <a:latin typeface="Fira Code" panose="020B0809050000020004" pitchFamily="49" charset="0"/>
              </a:rPr>
              <a:t>Ford</a:t>
            </a:r>
            <a:r>
              <a:rPr lang="en-US" b="0" i="0" dirty="0">
                <a:solidFill>
                  <a:srgbClr val="38BDF8"/>
                </a:solidFill>
                <a:effectLst/>
                <a:latin typeface="Fira Code" panose="020B0809050000020004" pitchFamily="49" charset="0"/>
              </a:rPr>
              <a:t>&lt;/option&gt;</a:t>
            </a:r>
            <a:r>
              <a:rPr lang="en-US" b="0" i="0" dirty="0">
                <a:solidFill>
                  <a:srgbClr val="E2E8F0"/>
                </a:solidFill>
                <a:effectLst/>
                <a:latin typeface="Fira Code" panose="020B0809050000020004" pitchFamily="49" charset="0"/>
              </a:rPr>
              <a:t> </a:t>
            </a:r>
            <a:r>
              <a:rPr lang="en-US" b="0" i="0" dirty="0">
                <a:solidFill>
                  <a:srgbClr val="38BDF8"/>
                </a:solidFill>
                <a:effectLst/>
                <a:latin typeface="Fira Code" panose="020B0809050000020004" pitchFamily="49" charset="0"/>
              </a:rPr>
              <a:t>&lt;/select&gt;</a:t>
            </a:r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187984A-8418-4C31-B13A-784EFD41B6F2}"/>
              </a:ext>
            </a:extLst>
          </p:cNvPr>
          <p:cNvSpPr txBox="1"/>
          <p:nvPr/>
        </p:nvSpPr>
        <p:spPr>
          <a:xfrm>
            <a:off x="8508622" y="4563279"/>
            <a:ext cx="2768978" cy="103111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0" i="0" dirty="0">
                <a:solidFill>
                  <a:srgbClr val="38BDF8"/>
                </a:solidFill>
                <a:effectLst/>
                <a:latin typeface="Fira Code" panose="020B0809050000020004" pitchFamily="49" charset="0"/>
              </a:rPr>
              <a:t>&lt;label</a:t>
            </a:r>
            <a:r>
              <a:rPr lang="en-US" b="0" i="0" dirty="0">
                <a:solidFill>
                  <a:srgbClr val="E2E8F0"/>
                </a:solidFill>
                <a:effectLst/>
                <a:latin typeface="Fira Code" panose="020B0809050000020004" pitchFamily="49" charset="0"/>
              </a:rPr>
              <a:t> </a:t>
            </a:r>
            <a:r>
              <a:rPr lang="en-US" b="0" i="0" dirty="0">
                <a:solidFill>
                  <a:srgbClr val="A78BFA"/>
                </a:solidFill>
                <a:effectLst/>
                <a:latin typeface="Fira Code" panose="020B0809050000020004" pitchFamily="49" charset="0"/>
              </a:rPr>
              <a:t>for=</a:t>
            </a:r>
            <a:r>
              <a:rPr lang="en-US" b="0" i="0" dirty="0">
                <a:solidFill>
                  <a:srgbClr val="A3E635"/>
                </a:solidFill>
                <a:effectLst/>
                <a:latin typeface="Fira Code" panose="020B0809050000020004" pitchFamily="49" charset="0"/>
              </a:rPr>
              <a:t>"nm"</a:t>
            </a:r>
            <a:r>
              <a:rPr lang="en-US" b="0" i="0" dirty="0">
                <a:solidFill>
                  <a:srgbClr val="38BDF8"/>
                </a:solidFill>
                <a:effectLst/>
                <a:latin typeface="Fira Code" panose="020B0809050000020004" pitchFamily="49" charset="0"/>
              </a:rPr>
              <a:t>&gt;</a:t>
            </a:r>
            <a:r>
              <a:rPr lang="en-US" b="0" i="0" dirty="0">
                <a:solidFill>
                  <a:srgbClr val="E2E8F0"/>
                </a:solidFill>
                <a:effectLst/>
                <a:latin typeface="Fira Code" panose="020B0809050000020004" pitchFamily="49" charset="0"/>
              </a:rPr>
              <a:t>Name:</a:t>
            </a:r>
            <a:r>
              <a:rPr lang="en-US" b="0" i="0" dirty="0">
                <a:solidFill>
                  <a:srgbClr val="38BDF8"/>
                </a:solidFill>
                <a:effectLst/>
                <a:latin typeface="Fira Code" panose="020B0809050000020004" pitchFamily="49" charset="0"/>
              </a:rPr>
              <a:t>&lt;/label&gt;</a:t>
            </a:r>
            <a:r>
              <a:rPr lang="en-US" b="0" i="0" dirty="0">
                <a:solidFill>
                  <a:srgbClr val="E2E8F0"/>
                </a:solidFill>
                <a:effectLst/>
                <a:latin typeface="Fira Code" panose="020B0809050000020004" pitchFamily="49" charset="0"/>
              </a:rPr>
              <a:t> </a:t>
            </a:r>
            <a:r>
              <a:rPr lang="en-US" b="0" i="0" dirty="0">
                <a:solidFill>
                  <a:srgbClr val="38BDF8"/>
                </a:solidFill>
                <a:effectLst/>
                <a:latin typeface="Fira Code" panose="020B0809050000020004" pitchFamily="49" charset="0"/>
              </a:rPr>
              <a:t>&lt;input</a:t>
            </a:r>
            <a:r>
              <a:rPr lang="en-US" b="0" i="0" dirty="0">
                <a:solidFill>
                  <a:srgbClr val="E2E8F0"/>
                </a:solidFill>
                <a:effectLst/>
                <a:latin typeface="Fira Code" panose="020B0809050000020004" pitchFamily="49" charset="0"/>
              </a:rPr>
              <a:t> </a:t>
            </a:r>
            <a:r>
              <a:rPr lang="en-US" b="0" i="0" dirty="0">
                <a:solidFill>
                  <a:srgbClr val="A78BFA"/>
                </a:solidFill>
                <a:effectLst/>
                <a:latin typeface="Fira Code" panose="020B0809050000020004" pitchFamily="49" charset="0"/>
              </a:rPr>
              <a:t>id=</a:t>
            </a:r>
            <a:r>
              <a:rPr lang="en-US" b="0" i="0" dirty="0">
                <a:solidFill>
                  <a:srgbClr val="A3E635"/>
                </a:solidFill>
                <a:effectLst/>
                <a:latin typeface="Fira Code" panose="020B0809050000020004" pitchFamily="49" charset="0"/>
              </a:rPr>
              <a:t>"nm"</a:t>
            </a:r>
            <a:r>
              <a:rPr lang="en-US" b="0" i="0" dirty="0">
                <a:solidFill>
                  <a:srgbClr val="E2E8F0"/>
                </a:solidFill>
                <a:effectLst/>
                <a:latin typeface="Fira Code" panose="020B0809050000020004" pitchFamily="49" charset="0"/>
              </a:rPr>
              <a:t> </a:t>
            </a:r>
            <a:r>
              <a:rPr lang="en-US" b="0" i="0" dirty="0">
                <a:solidFill>
                  <a:srgbClr val="A78BFA"/>
                </a:solidFill>
                <a:effectLst/>
                <a:latin typeface="Fira Code" panose="020B0809050000020004" pitchFamily="49" charset="0"/>
              </a:rPr>
              <a:t>type=</a:t>
            </a:r>
            <a:r>
              <a:rPr lang="en-US" b="0" i="0" dirty="0">
                <a:solidFill>
                  <a:srgbClr val="A3E635"/>
                </a:solidFill>
                <a:effectLst/>
                <a:latin typeface="Fira Code" panose="020B0809050000020004" pitchFamily="49" charset="0"/>
              </a:rPr>
              <a:t>"text"</a:t>
            </a:r>
            <a:r>
              <a:rPr lang="en-US" b="0" i="0" dirty="0">
                <a:solidFill>
                  <a:srgbClr val="38BDF8"/>
                </a:solidFill>
                <a:effectLst/>
                <a:latin typeface="Fira Code" panose="020B0809050000020004" pitchFamily="49" charset="0"/>
              </a:rPr>
              <a:t>&gt;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F5ACC-165D-45CA-B738-6FC61F8434B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Prepared By MD Yeakob Ali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8DC85D-EB41-46D7-9105-449D8E26DAA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4" name="Google Shape;574;p3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p38"/>
          <p:cNvSpPr txBox="1"/>
          <p:nvPr/>
        </p:nvSpPr>
        <p:spPr>
          <a:xfrm>
            <a:off x="3033712" y="2838069"/>
            <a:ext cx="6124575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Lab </a:t>
            </a:r>
            <a:r>
              <a:rPr lang="en-US" sz="2400" b="1" i="0" u="none" strike="noStrike" cap="none" dirty="0">
                <a:solidFill>
                  <a:srgbClr val="FF0000"/>
                </a:solidFill>
                <a:latin typeface="Inter"/>
                <a:ea typeface="Inter"/>
                <a:cs typeface="Inter"/>
                <a:sym typeface="Inter"/>
              </a:rPr>
              <a:t>Assignments</a:t>
            </a:r>
            <a:r>
              <a:rPr lang="en-US" sz="240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&amp; Hands-on Practice</a:t>
            </a:r>
            <a:endParaRPr sz="1800" b="1" dirty="0"/>
          </a:p>
        </p:txBody>
      </p:sp>
      <p:sp>
        <p:nvSpPr>
          <p:cNvPr id="577" name="Google Shape;577;p38"/>
          <p:cNvSpPr/>
          <p:nvPr/>
        </p:nvSpPr>
        <p:spPr>
          <a:xfrm>
            <a:off x="5381625" y="3635573"/>
            <a:ext cx="142875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117FCEB-1BB1-47B5-893F-C4F902EFCE1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Prepared By MD Yeakob Ali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3798C9-50BA-4607-B317-AD31E4BD7B8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2" name="Google Shape;582;p3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39"/>
          <p:cNvSpPr txBox="1"/>
          <p:nvPr/>
        </p:nvSpPr>
        <p:spPr>
          <a:xfrm>
            <a:off x="571500" y="1257300"/>
            <a:ext cx="5286375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Objective:</a:t>
            </a:r>
            <a:r>
              <a:rPr lang="en-US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Create a reusable e-commerce product card using semantic HTML tags.</a:t>
            </a:r>
            <a:endParaRPr sz="1600"/>
          </a:p>
        </p:txBody>
      </p:sp>
      <p:sp>
        <p:nvSpPr>
          <p:cNvPr id="585" name="Google Shape;585;p39"/>
          <p:cNvSpPr txBox="1"/>
          <p:nvPr/>
        </p:nvSpPr>
        <p:spPr>
          <a:xfrm>
            <a:off x="571500" y="2244030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Requirements:</a:t>
            </a:r>
            <a:endParaRPr/>
          </a:p>
        </p:txBody>
      </p:sp>
      <p:sp>
        <p:nvSpPr>
          <p:cNvPr id="586" name="Google Shape;586;p39"/>
          <p:cNvSpPr txBox="1"/>
          <p:nvPr/>
        </p:nvSpPr>
        <p:spPr>
          <a:xfrm>
            <a:off x="638175" y="2795527"/>
            <a:ext cx="9525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600"/>
          </a:p>
        </p:txBody>
      </p:sp>
      <p:sp>
        <p:nvSpPr>
          <p:cNvPr id="587" name="Google Shape;587;p39"/>
          <p:cNvSpPr txBox="1"/>
          <p:nvPr/>
        </p:nvSpPr>
        <p:spPr>
          <a:xfrm>
            <a:off x="809625" y="2720280"/>
            <a:ext cx="504825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Use a wrapper container (e.g.,  or ).</a:t>
            </a:r>
            <a:endParaRPr sz="1600"/>
          </a:p>
        </p:txBody>
      </p:sp>
      <p:sp>
        <p:nvSpPr>
          <p:cNvPr id="588" name="Google Shape;588;p39"/>
          <p:cNvSpPr txBox="1"/>
          <p:nvPr/>
        </p:nvSpPr>
        <p:spPr>
          <a:xfrm>
            <a:off x="638175" y="3184118"/>
            <a:ext cx="9525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600"/>
          </a:p>
        </p:txBody>
      </p:sp>
      <p:sp>
        <p:nvSpPr>
          <p:cNvPr id="589" name="Google Shape;589;p39"/>
          <p:cNvSpPr txBox="1"/>
          <p:nvPr/>
        </p:nvSpPr>
        <p:spPr>
          <a:xfrm>
            <a:off x="809625" y="3108870"/>
            <a:ext cx="504825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Include a product image using the  tag.</a:t>
            </a:r>
            <a:endParaRPr sz="1600"/>
          </a:p>
        </p:txBody>
      </p:sp>
      <p:sp>
        <p:nvSpPr>
          <p:cNvPr id="590" name="Google Shape;590;p39"/>
          <p:cNvSpPr txBox="1"/>
          <p:nvPr/>
        </p:nvSpPr>
        <p:spPr>
          <a:xfrm>
            <a:off x="638175" y="3572708"/>
            <a:ext cx="9525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600"/>
          </a:p>
        </p:txBody>
      </p:sp>
      <p:sp>
        <p:nvSpPr>
          <p:cNvPr id="591" name="Google Shape;591;p39"/>
          <p:cNvSpPr txBox="1"/>
          <p:nvPr/>
        </p:nvSpPr>
        <p:spPr>
          <a:xfrm>
            <a:off x="809625" y="3497460"/>
            <a:ext cx="504825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Add a product title using an  or .</a:t>
            </a:r>
            <a:endParaRPr sz="1600"/>
          </a:p>
        </p:txBody>
      </p:sp>
      <p:sp>
        <p:nvSpPr>
          <p:cNvPr id="592" name="Google Shape;592;p39"/>
          <p:cNvSpPr txBox="1"/>
          <p:nvPr/>
        </p:nvSpPr>
        <p:spPr>
          <a:xfrm>
            <a:off x="638175" y="3961298"/>
            <a:ext cx="9525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600"/>
          </a:p>
        </p:txBody>
      </p:sp>
      <p:sp>
        <p:nvSpPr>
          <p:cNvPr id="593" name="Google Shape;593;p39"/>
          <p:cNvSpPr txBox="1"/>
          <p:nvPr/>
        </p:nvSpPr>
        <p:spPr>
          <a:xfrm>
            <a:off x="809625" y="3886051"/>
            <a:ext cx="504825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Provide a brief product description using a  tag.</a:t>
            </a:r>
            <a:endParaRPr sz="1600"/>
          </a:p>
        </p:txBody>
      </p:sp>
      <p:sp>
        <p:nvSpPr>
          <p:cNvPr id="594" name="Google Shape;594;p39"/>
          <p:cNvSpPr txBox="1"/>
          <p:nvPr/>
        </p:nvSpPr>
        <p:spPr>
          <a:xfrm>
            <a:off x="638175" y="4349888"/>
            <a:ext cx="9525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600"/>
          </a:p>
        </p:txBody>
      </p:sp>
      <p:sp>
        <p:nvSpPr>
          <p:cNvPr id="595" name="Google Shape;595;p39"/>
          <p:cNvSpPr txBox="1"/>
          <p:nvPr/>
        </p:nvSpPr>
        <p:spPr>
          <a:xfrm>
            <a:off x="809625" y="4274641"/>
            <a:ext cx="504825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Display the price clearly (e.g., using a  or ).</a:t>
            </a:r>
            <a:endParaRPr sz="1600"/>
          </a:p>
        </p:txBody>
      </p:sp>
      <p:sp>
        <p:nvSpPr>
          <p:cNvPr id="596" name="Google Shape;596;p39"/>
          <p:cNvSpPr txBox="1"/>
          <p:nvPr/>
        </p:nvSpPr>
        <p:spPr>
          <a:xfrm>
            <a:off x="638175" y="4738479"/>
            <a:ext cx="9525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600"/>
          </a:p>
        </p:txBody>
      </p:sp>
      <p:sp>
        <p:nvSpPr>
          <p:cNvPr id="597" name="Google Shape;597;p39"/>
          <p:cNvSpPr txBox="1"/>
          <p:nvPr/>
        </p:nvSpPr>
        <p:spPr>
          <a:xfrm>
            <a:off x="809625" y="4663231"/>
            <a:ext cx="504825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Include an "Add to Cart" button using the  tag.</a:t>
            </a:r>
            <a:endParaRPr sz="1600"/>
          </a:p>
        </p:txBody>
      </p:sp>
      <p:sp>
        <p:nvSpPr>
          <p:cNvPr id="599" name="Google Shape;599;p39"/>
          <p:cNvSpPr txBox="1"/>
          <p:nvPr/>
        </p:nvSpPr>
        <p:spPr>
          <a:xfrm>
            <a:off x="571500" y="657225"/>
            <a:ext cx="116014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Task 1: Design a </a:t>
            </a:r>
            <a:r>
              <a:rPr lang="en-US" sz="3150" b="0" i="0" u="none" strike="noStrike" cap="none" dirty="0">
                <a:solidFill>
                  <a:srgbClr val="FF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Product Card</a:t>
            </a:r>
            <a:endParaRPr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078D5A-318D-422A-9A35-D2ED0E3025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7875" y="1960789"/>
            <a:ext cx="5691859" cy="4268894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7A58BC6-9362-476F-9F9E-92514CF233A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Prepared By MD Yeakob Ali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C86403C-7972-4414-B6BC-AA228C7571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" name="Google Shape;604;p4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40"/>
          <p:cNvSpPr txBox="1"/>
          <p:nvPr/>
        </p:nvSpPr>
        <p:spPr>
          <a:xfrm>
            <a:off x="571500" y="1227832"/>
            <a:ext cx="5286375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Objective:</a:t>
            </a:r>
            <a:r>
              <a:rPr lang="en-US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Structure tabular data comprehensively using advanced HTML table features.</a:t>
            </a:r>
            <a:endParaRPr sz="1600" dirty="0"/>
          </a:p>
        </p:txBody>
      </p:sp>
      <p:sp>
        <p:nvSpPr>
          <p:cNvPr id="607" name="Google Shape;607;p40"/>
          <p:cNvSpPr txBox="1"/>
          <p:nvPr/>
        </p:nvSpPr>
        <p:spPr>
          <a:xfrm>
            <a:off x="571500" y="2129644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Requirements:</a:t>
            </a:r>
            <a:endParaRPr dirty="0"/>
          </a:p>
        </p:txBody>
      </p:sp>
      <p:sp>
        <p:nvSpPr>
          <p:cNvPr id="619" name="Google Shape;619;p40"/>
          <p:cNvSpPr txBox="1"/>
          <p:nvPr/>
        </p:nvSpPr>
        <p:spPr>
          <a:xfrm>
            <a:off x="571500" y="571500"/>
            <a:ext cx="116014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Task 2: Student </a:t>
            </a:r>
            <a:r>
              <a:rPr lang="en-US" sz="3150" b="0" i="0" u="none" strike="noStrike" cap="none" dirty="0">
                <a:solidFill>
                  <a:srgbClr val="FF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Result Table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A11BC49-67E1-424A-A7F2-F1B8CDA813D2}"/>
              </a:ext>
            </a:extLst>
          </p:cNvPr>
          <p:cNvSpPr txBox="1"/>
          <p:nvPr/>
        </p:nvSpPr>
        <p:spPr>
          <a:xfrm>
            <a:off x="571500" y="2585414"/>
            <a:ext cx="10448925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Use &lt;table&gt;, &lt;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thead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&gt;, and &lt;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tbody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&gt; to structure the table cleanly.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header row must contain headings: Student ID, Name, Subject 1, Subject 2, Total Marks, and Grade.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Add at least 5 rows of dummy student data.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Use the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rowspan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attribute to group students by a specific department (e.g., a "CSE" column that spans multiple rows).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Use the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colspan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attribute to merge a cell at the bottom calculating the "Class Average".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438B59-245A-400F-85FE-7697CF9C934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Prepared By MD Yeakob Ali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4D512A-A258-463F-8158-3D6B047A1B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28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852" y="4548285"/>
            <a:ext cx="11437644" cy="15535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" name="Google Shape;624;p4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5" name="Google Shape;625;p4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55257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1"/>
          <p:cNvSpPr txBox="1"/>
          <p:nvPr/>
        </p:nvSpPr>
        <p:spPr>
          <a:xfrm>
            <a:off x="571500" y="1447800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Objective: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Build a complete webpage summarizing your resume using various HTML elements learned today.</a:t>
            </a:r>
            <a:endParaRPr dirty="0"/>
          </a:p>
        </p:txBody>
      </p:sp>
      <p:sp>
        <p:nvSpPr>
          <p:cNvPr id="627" name="Google Shape;627;p41"/>
          <p:cNvSpPr txBox="1"/>
          <p:nvPr/>
        </p:nvSpPr>
        <p:spPr>
          <a:xfrm>
            <a:off x="571500" y="2244030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Requirements:</a:t>
            </a:r>
            <a:endParaRPr/>
          </a:p>
        </p:txBody>
      </p:sp>
      <p:sp>
        <p:nvSpPr>
          <p:cNvPr id="628" name="Google Shape;628;p41"/>
          <p:cNvSpPr txBox="1"/>
          <p:nvPr/>
        </p:nvSpPr>
        <p:spPr>
          <a:xfrm>
            <a:off x="609600" y="2871727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629" name="Google Shape;629;p41"/>
          <p:cNvSpPr txBox="1"/>
          <p:nvPr/>
        </p:nvSpPr>
        <p:spPr>
          <a:xfrm>
            <a:off x="809625" y="2786955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Use semantic tags ( for name/contact,  for blocks).</a:t>
            </a:r>
            <a:endParaRPr/>
          </a:p>
        </p:txBody>
      </p:sp>
      <p:sp>
        <p:nvSpPr>
          <p:cNvPr id="630" name="Google Shape;630;p41"/>
          <p:cNvSpPr txBox="1"/>
          <p:nvPr/>
        </p:nvSpPr>
        <p:spPr>
          <a:xfrm>
            <a:off x="609600" y="3260318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631" name="Google Shape;631;p41"/>
          <p:cNvSpPr txBox="1"/>
          <p:nvPr/>
        </p:nvSpPr>
        <p:spPr>
          <a:xfrm>
            <a:off x="809625" y="3175545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Include an  tag for your profile picture.</a:t>
            </a:r>
            <a:endParaRPr/>
          </a:p>
        </p:txBody>
      </p:sp>
      <p:sp>
        <p:nvSpPr>
          <p:cNvPr id="632" name="Google Shape;632;p41"/>
          <p:cNvSpPr txBox="1"/>
          <p:nvPr/>
        </p:nvSpPr>
        <p:spPr>
          <a:xfrm>
            <a:off x="609600" y="3648908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633" name="Google Shape;633;p41"/>
          <p:cNvSpPr txBox="1"/>
          <p:nvPr/>
        </p:nvSpPr>
        <p:spPr>
          <a:xfrm>
            <a:off x="809625" y="3564135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Use an Unordered List () for your Skills.</a:t>
            </a:r>
            <a:endParaRPr/>
          </a:p>
        </p:txBody>
      </p:sp>
      <p:sp>
        <p:nvSpPr>
          <p:cNvPr id="634" name="Google Shape;634;p41"/>
          <p:cNvSpPr txBox="1"/>
          <p:nvPr/>
        </p:nvSpPr>
        <p:spPr>
          <a:xfrm>
            <a:off x="609600" y="4037498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635" name="Google Shape;635;p41"/>
          <p:cNvSpPr txBox="1"/>
          <p:nvPr/>
        </p:nvSpPr>
        <p:spPr>
          <a:xfrm>
            <a:off x="809625" y="3952726"/>
            <a:ext cx="50482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Use a Description List () or a Table for Education/Work Experience.</a:t>
            </a:r>
            <a:endParaRPr/>
          </a:p>
        </p:txBody>
      </p:sp>
      <p:sp>
        <p:nvSpPr>
          <p:cNvPr id="636" name="Google Shape;636;p41"/>
          <p:cNvSpPr txBox="1"/>
          <p:nvPr/>
        </p:nvSpPr>
        <p:spPr>
          <a:xfrm>
            <a:off x="609600" y="4700379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637" name="Google Shape;637;p41"/>
          <p:cNvSpPr txBox="1"/>
          <p:nvPr/>
        </p:nvSpPr>
        <p:spPr>
          <a:xfrm>
            <a:off x="809625" y="4615606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Include hyperlinks () to your GitHub and LinkedIn profiles.</a:t>
            </a:r>
            <a:endParaRPr/>
          </a:p>
        </p:txBody>
      </p:sp>
      <p:sp>
        <p:nvSpPr>
          <p:cNvPr id="638" name="Google Shape;638;p41"/>
          <p:cNvSpPr txBox="1"/>
          <p:nvPr/>
        </p:nvSpPr>
        <p:spPr>
          <a:xfrm>
            <a:off x="609600" y="5088969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639" name="Google Shape;639;p41"/>
          <p:cNvSpPr txBox="1"/>
          <p:nvPr/>
        </p:nvSpPr>
        <p:spPr>
          <a:xfrm>
            <a:off x="809625" y="5004196"/>
            <a:ext cx="50482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Add a small "Contact Me"  at the footer with Name, Email, and Message inputs.</a:t>
            </a:r>
            <a:endParaRPr/>
          </a:p>
        </p:txBody>
      </p:sp>
      <p:pic>
        <p:nvPicPr>
          <p:cNvPr id="640" name="Google Shape;640;p4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562100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641" name="Google Shape;641;p41"/>
          <p:cNvSpPr txBox="1"/>
          <p:nvPr/>
        </p:nvSpPr>
        <p:spPr>
          <a:xfrm>
            <a:off x="571500" y="778846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Task 3: Personal CV using HTML</a:t>
            </a:r>
            <a:endParaRPr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815D966-4286-4369-BBAD-610DEE08DC5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Prepared By MD Yeakob Ali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E0ECE9-4A4E-48BC-A48E-6E008E653D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2"/>
          <p:cNvSpPr txBox="1"/>
          <p:nvPr/>
        </p:nvSpPr>
        <p:spPr>
          <a:xfrm>
            <a:off x="295275" y="2507902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/>
          </a:p>
        </p:txBody>
      </p:sp>
      <p:sp>
        <p:nvSpPr>
          <p:cNvPr id="648" name="Google Shape;648;p42"/>
          <p:cNvSpPr txBox="1"/>
          <p:nvPr/>
        </p:nvSpPr>
        <p:spPr>
          <a:xfrm>
            <a:off x="571500" y="3841402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Time to jump into the lab tasks. Good luck!</a:t>
            </a:r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4DEA272-A630-4181-AF65-AA7DC760A8C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Prepared By MD Yeakob Ali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23A616-64D8-4095-844F-98489211CB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</TotalTime>
  <Words>2030</Words>
  <Application>Microsoft Office PowerPoint</Application>
  <PresentationFormat>Widescreen</PresentationFormat>
  <Paragraphs>323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Inter</vt:lpstr>
      <vt:lpstr>Arial Unicode MS</vt:lpstr>
      <vt:lpstr>Fira Code</vt:lpstr>
      <vt:lpstr>Calibri</vt:lpstr>
      <vt:lpstr>Poppins SemiBold</vt:lpstr>
      <vt:lpstr>Poppins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Asus</dc:creator>
  <cp:lastModifiedBy>NET LAB PC - 31</cp:lastModifiedBy>
  <cp:revision>34</cp:revision>
  <dcterms:modified xsi:type="dcterms:W3CDTF">2026-04-05T08:20:46Z</dcterms:modified>
</cp:coreProperties>
</file>